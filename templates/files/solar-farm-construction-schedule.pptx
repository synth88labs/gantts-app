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9E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46888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Solar Farm Construction Schedule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3566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Free Gantt chart template · gantts.app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Solar Farm Construction Schedule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84048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7472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422989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86413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17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61931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5355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Aug 31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500873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297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14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539815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3239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Sep 28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78757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2181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12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617699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1123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Oct 26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566415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00655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9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95583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9007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Nov 23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7345254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79494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7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734673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368913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Dec 21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812409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5833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4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8513512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7752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Jan 18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8902931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37171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929235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92659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Feb 15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9681770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16010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0071189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05429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15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10460608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94848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Mar 29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085002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8426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12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11239447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873687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Apr 26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11628866" y="1051560"/>
            <a:ext cx="0" cy="521208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263106" y="795528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May 10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365760" y="1033272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Development &amp; feasibility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840480" y="1119146"/>
            <a:ext cx="125170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47" name="Text 45"/>
          <p:cNvSpPr/>
          <p:nvPr/>
        </p:nvSpPr>
        <p:spPr>
          <a:xfrm>
            <a:off x="365760" y="1259884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Site control &amp; pre-feasibility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840480" y="1305604"/>
            <a:ext cx="695392" cy="135172"/>
          </a:xfrm>
          <a:prstGeom prst="roundRect">
            <a:avLst>
              <a:gd name="adj" fmla="val 20294"/>
            </a:avLst>
          </a:prstGeom>
          <a:solidFill>
            <a:srgbClr val="64748B"/>
          </a:solidFill>
          <a:ln/>
        </p:spPr>
      </p:sp>
      <p:sp>
        <p:nvSpPr>
          <p:cNvPr id="49" name="Shape 47"/>
          <p:cNvSpPr/>
          <p:nvPr/>
        </p:nvSpPr>
        <p:spPr>
          <a:xfrm>
            <a:off x="3840480" y="1305604"/>
            <a:ext cx="695392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365760" y="1486496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Solar resource &amp; layout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396793" y="1532216"/>
            <a:ext cx="695392" cy="135172"/>
          </a:xfrm>
          <a:prstGeom prst="roundRect">
            <a:avLst>
              <a:gd name="adj" fmla="val 20294"/>
            </a:avLst>
          </a:prstGeom>
          <a:solidFill>
            <a:srgbClr val="94A3B8"/>
          </a:solidFill>
          <a:ln/>
        </p:spPr>
      </p:sp>
      <p:sp>
        <p:nvSpPr>
          <p:cNvPr id="52" name="Shape 50"/>
          <p:cNvSpPr/>
          <p:nvPr/>
        </p:nvSpPr>
        <p:spPr>
          <a:xfrm>
            <a:off x="4396793" y="1532216"/>
            <a:ext cx="695392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1713109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Interconnection &amp; environmental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953107" y="1798983"/>
            <a:ext cx="250341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55" name="Text 53"/>
          <p:cNvSpPr/>
          <p:nvPr/>
        </p:nvSpPr>
        <p:spPr>
          <a:xfrm>
            <a:off x="365760" y="1939721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Interconnection application &amp; study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953107" y="1985441"/>
            <a:ext cx="2086175" cy="135172"/>
          </a:xfrm>
          <a:prstGeom prst="roundRect">
            <a:avLst>
              <a:gd name="adj" fmla="val 20294"/>
            </a:avLst>
          </a:prstGeom>
          <a:solidFill>
            <a:srgbClr val="2563EB"/>
          </a:solidFill>
          <a:ln/>
        </p:spPr>
      </p:sp>
      <p:sp>
        <p:nvSpPr>
          <p:cNvPr id="57" name="Shape 55"/>
          <p:cNvSpPr/>
          <p:nvPr/>
        </p:nvSpPr>
        <p:spPr>
          <a:xfrm>
            <a:off x="4953107" y="1985441"/>
            <a:ext cx="1460322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58" name="Text 56"/>
          <p:cNvSpPr/>
          <p:nvPr/>
        </p:nvSpPr>
        <p:spPr>
          <a:xfrm>
            <a:off x="365760" y="2166333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Environmental assessment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370342" y="2212053"/>
            <a:ext cx="1390783" cy="135172"/>
          </a:xfrm>
          <a:prstGeom prst="roundRect">
            <a:avLst>
              <a:gd name="adj" fmla="val 20294"/>
            </a:avLst>
          </a:prstGeom>
          <a:solidFill>
            <a:srgbClr val="3B82F6"/>
          </a:solidFill>
          <a:ln/>
        </p:spPr>
      </p:sp>
      <p:sp>
        <p:nvSpPr>
          <p:cNvPr id="60" name="Shape 58"/>
          <p:cNvSpPr/>
          <p:nvPr/>
        </p:nvSpPr>
        <p:spPr>
          <a:xfrm>
            <a:off x="5370342" y="2212053"/>
            <a:ext cx="834470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1" name="Text 59"/>
          <p:cNvSpPr/>
          <p:nvPr/>
        </p:nvSpPr>
        <p:spPr>
          <a:xfrm>
            <a:off x="365760" y="2392945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Interconnection agreement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374220" y="2442243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63" name="Text 61"/>
          <p:cNvSpPr/>
          <p:nvPr/>
        </p:nvSpPr>
        <p:spPr>
          <a:xfrm>
            <a:off x="365760" y="2619557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Design &amp; permitting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900203" y="2705431"/>
            <a:ext cx="1668940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65" name="Text 63"/>
          <p:cNvSpPr/>
          <p:nvPr/>
        </p:nvSpPr>
        <p:spPr>
          <a:xfrm>
            <a:off x="365760" y="2846169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Civil &amp; electrical design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900203" y="2891889"/>
            <a:ext cx="1112627" cy="135172"/>
          </a:xfrm>
          <a:prstGeom prst="roundRect">
            <a:avLst>
              <a:gd name="adj" fmla="val 20294"/>
            </a:avLst>
          </a:prstGeom>
          <a:solidFill>
            <a:srgbClr val="A855F7"/>
          </a:solidFill>
          <a:ln/>
        </p:spPr>
      </p:sp>
      <p:sp>
        <p:nvSpPr>
          <p:cNvPr id="67" name="Shape 65"/>
          <p:cNvSpPr/>
          <p:nvPr/>
        </p:nvSpPr>
        <p:spPr>
          <a:xfrm>
            <a:off x="6900203" y="2891889"/>
            <a:ext cx="500682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68" name="Text 66"/>
          <p:cNvSpPr/>
          <p:nvPr/>
        </p:nvSpPr>
        <p:spPr>
          <a:xfrm>
            <a:off x="365760" y="3072782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Local permits &amp; approvals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7456516" y="3118502"/>
            <a:ext cx="1112627" cy="135172"/>
          </a:xfrm>
          <a:prstGeom prst="roundRect">
            <a:avLst>
              <a:gd name="adj" fmla="val 20294"/>
            </a:avLst>
          </a:prstGeom>
          <a:solidFill>
            <a:srgbClr val="C084FC"/>
          </a:solidFill>
          <a:ln/>
        </p:spPr>
      </p:sp>
      <p:sp>
        <p:nvSpPr>
          <p:cNvPr id="70" name="Shape 68"/>
          <p:cNvSpPr/>
          <p:nvPr/>
        </p:nvSpPr>
        <p:spPr>
          <a:xfrm>
            <a:off x="7456516" y="3118502"/>
            <a:ext cx="222525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365760" y="3299394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Notice to proceed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8486847" y="3348692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73" name="Text 71"/>
          <p:cNvSpPr/>
          <p:nvPr/>
        </p:nvSpPr>
        <p:spPr>
          <a:xfrm>
            <a:off x="365760" y="3526006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Procurement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734673" y="3611880"/>
            <a:ext cx="208617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75" name="Text 73"/>
          <p:cNvSpPr/>
          <p:nvPr/>
        </p:nvSpPr>
        <p:spPr>
          <a:xfrm>
            <a:off x="365760" y="3752618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Modules &amp; inverters ordered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7734673" y="3798338"/>
            <a:ext cx="1668940" cy="135172"/>
          </a:xfrm>
          <a:prstGeom prst="roundRect">
            <a:avLst>
              <a:gd name="adj" fmla="val 20294"/>
            </a:avLst>
          </a:prstGeom>
          <a:solidFill>
            <a:srgbClr val="0D9488"/>
          </a:solidFill>
          <a:ln/>
        </p:spPr>
      </p:sp>
      <p:sp>
        <p:nvSpPr>
          <p:cNvPr id="77" name="Shape 75"/>
          <p:cNvSpPr/>
          <p:nvPr/>
        </p:nvSpPr>
        <p:spPr>
          <a:xfrm>
            <a:off x="7734673" y="3798338"/>
            <a:ext cx="500682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78" name="Text 76"/>
          <p:cNvSpPr/>
          <p:nvPr/>
        </p:nvSpPr>
        <p:spPr>
          <a:xfrm>
            <a:off x="365760" y="3979230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Transformer &amp; HV gear (long lead)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7734673" y="4024950"/>
            <a:ext cx="2086175" cy="135172"/>
          </a:xfrm>
          <a:prstGeom prst="roundRect">
            <a:avLst>
              <a:gd name="adj" fmla="val 20294"/>
            </a:avLst>
          </a:prstGeom>
          <a:solidFill>
            <a:srgbClr val="14B8A6"/>
          </a:solidFill>
          <a:ln/>
        </p:spPr>
      </p:sp>
      <p:sp>
        <p:nvSpPr>
          <p:cNvPr id="80" name="Shape 78"/>
          <p:cNvSpPr/>
          <p:nvPr/>
        </p:nvSpPr>
        <p:spPr>
          <a:xfrm>
            <a:off x="7734673" y="4024950"/>
            <a:ext cx="417235" cy="135172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81" name="Text 79"/>
          <p:cNvSpPr/>
          <p:nvPr/>
        </p:nvSpPr>
        <p:spPr>
          <a:xfrm>
            <a:off x="365760" y="4205842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Civil &amp; mechanical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8624774" y="4291717"/>
            <a:ext cx="208617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83" name="Text 81"/>
          <p:cNvSpPr/>
          <p:nvPr/>
        </p:nvSpPr>
        <p:spPr>
          <a:xfrm>
            <a:off x="365760" y="4432455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Mobilization &amp; access roads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8624774" y="4478175"/>
            <a:ext cx="417235" cy="135172"/>
          </a:xfrm>
          <a:prstGeom prst="roundRect">
            <a:avLst>
              <a:gd name="adj" fmla="val 20294"/>
            </a:avLst>
          </a:prstGeom>
          <a:solidFill>
            <a:srgbClr val="F59E0B"/>
          </a:solidFill>
          <a:ln/>
        </p:spPr>
      </p:sp>
      <p:sp>
        <p:nvSpPr>
          <p:cNvPr id="85" name="Text 83"/>
          <p:cNvSpPr/>
          <p:nvPr/>
        </p:nvSpPr>
        <p:spPr>
          <a:xfrm>
            <a:off x="365760" y="4659067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Grading &amp; fencing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8986378" y="4704787"/>
            <a:ext cx="556313" cy="135172"/>
          </a:xfrm>
          <a:prstGeom prst="roundRect">
            <a:avLst>
              <a:gd name="adj" fmla="val 20294"/>
            </a:avLst>
          </a:prstGeom>
          <a:solidFill>
            <a:srgbClr val="FBBF24"/>
          </a:solidFill>
          <a:ln/>
        </p:spPr>
      </p:sp>
      <p:sp>
        <p:nvSpPr>
          <p:cNvPr id="87" name="Text 85"/>
          <p:cNvSpPr/>
          <p:nvPr/>
        </p:nvSpPr>
        <p:spPr>
          <a:xfrm>
            <a:off x="365760" y="4885679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Pile driving &amp; racking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9459244" y="4931399"/>
            <a:ext cx="834470" cy="135172"/>
          </a:xfrm>
          <a:prstGeom prst="roundRect">
            <a:avLst>
              <a:gd name="adj" fmla="val 20294"/>
            </a:avLst>
          </a:prstGeom>
          <a:solidFill>
            <a:srgbClr val="F59E0B"/>
          </a:solidFill>
          <a:ln/>
        </p:spPr>
      </p:sp>
      <p:sp>
        <p:nvSpPr>
          <p:cNvPr id="89" name="Text 87"/>
          <p:cNvSpPr/>
          <p:nvPr/>
        </p:nvSpPr>
        <p:spPr>
          <a:xfrm>
            <a:off x="365760" y="5112291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Module install &amp; DC wiring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10099004" y="5158011"/>
            <a:ext cx="611945" cy="135172"/>
          </a:xfrm>
          <a:prstGeom prst="roundRect">
            <a:avLst>
              <a:gd name="adj" fmla="val 20294"/>
            </a:avLst>
          </a:prstGeom>
          <a:solidFill>
            <a:srgbClr val="FBBF24"/>
          </a:solidFill>
          <a:ln/>
        </p:spPr>
      </p:sp>
      <p:sp>
        <p:nvSpPr>
          <p:cNvPr id="91" name="Text 89"/>
          <p:cNvSpPr/>
          <p:nvPr/>
        </p:nvSpPr>
        <p:spPr>
          <a:xfrm>
            <a:off x="365760" y="5338903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293B"/>
                </a:solidFill>
              </a:rPr>
              <a:t>Electrical &amp; commissioning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10516239" y="5424777"/>
            <a:ext cx="1251705" cy="9144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93" name="Text 91"/>
          <p:cNvSpPr/>
          <p:nvPr/>
        </p:nvSpPr>
        <p:spPr>
          <a:xfrm>
            <a:off x="365760" y="5565515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Inverters, combiners &amp; substation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10516239" y="5611235"/>
            <a:ext cx="695392" cy="135172"/>
          </a:xfrm>
          <a:prstGeom prst="roundRect">
            <a:avLst>
              <a:gd name="adj" fmla="val 20294"/>
            </a:avLst>
          </a:prstGeom>
          <a:solidFill>
            <a:srgbClr val="EA580C"/>
          </a:solidFill>
          <a:ln/>
        </p:spPr>
      </p:sp>
      <p:sp>
        <p:nvSpPr>
          <p:cNvPr id="95" name="Text 93"/>
          <p:cNvSpPr/>
          <p:nvPr/>
        </p:nvSpPr>
        <p:spPr>
          <a:xfrm>
            <a:off x="365760" y="5792128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E293B"/>
                </a:solidFill>
              </a:rPr>
              <a:t>Testing &amp; utility witness test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11156000" y="5837848"/>
            <a:ext cx="389419" cy="135172"/>
          </a:xfrm>
          <a:prstGeom prst="roundRect">
            <a:avLst>
              <a:gd name="adj" fmla="val 20294"/>
            </a:avLst>
          </a:prstGeom>
          <a:solidFill>
            <a:srgbClr val="F97316"/>
          </a:solidFill>
          <a:ln/>
        </p:spPr>
      </p:sp>
      <p:sp>
        <p:nvSpPr>
          <p:cNvPr id="97" name="Text 95"/>
          <p:cNvSpPr/>
          <p:nvPr/>
        </p:nvSpPr>
        <p:spPr>
          <a:xfrm>
            <a:off x="365760" y="6018740"/>
            <a:ext cx="3291840" cy="2266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1E293B"/>
                </a:solidFill>
              </a:rPr>
              <a:t>◆ Commercial operation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11685648" y="6068038"/>
            <a:ext cx="164592" cy="164592"/>
          </a:xfrm>
          <a:prstGeom prst="diamond">
            <a:avLst/>
          </a:prstGeom>
          <a:solidFill>
            <a:srgbClr val="10B981"/>
          </a:solidFill>
          <a:ln/>
        </p:spPr>
      </p:sp>
      <p:sp>
        <p:nvSpPr>
          <p:cNvPr id="99" name="Text 97"/>
          <p:cNvSpPr/>
          <p:nvPr/>
        </p:nvSpPr>
        <p:spPr>
          <a:xfrm>
            <a:off x="36576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Made free at gantts.app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93B"/>
                </a:solidFill>
              </a:rPr>
              <a:t>Task Schedule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2296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Task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Owner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Start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End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Days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feasibility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Site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control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pre-feasibility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2026-08-02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Solar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resource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layout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Engineering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2026-08-22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100%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Interconnection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environmental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2026-12-09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Interconnection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application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study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Development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2026-09-11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Environmental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assessment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Consultant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2026-09-26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Interconnection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agreement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Civil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design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Engineering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2026-11-20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Local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approvals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Permitting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2026-12-10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Notice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to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proceed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2027-01-19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Procurement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Modules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inverters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ordered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Procurement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2027-02-17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6.2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Transformer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HV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gear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(long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lead)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Procurement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2026-12-20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Civil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mechanical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Mobilization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access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roads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EPC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2027-01-21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Grading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fencing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Civil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2027-02-03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Pile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driving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racking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Mechanical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2027-02-20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2027-03-21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7.4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Module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install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DC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wiring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Mechanical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2027-03-15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commissioning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2027-05-13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45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8.1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Inverters,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combiners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substation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Electrical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2027-03-30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2027-04-23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57200"/>
          <a:ext cx="11430000" cy="914400"/>
        </p:xfrm>
        <a:graphic>
          <a:graphicData uri="http://schemas.openxmlformats.org/drawingml/2006/table">
            <a:tbl>
              <a:tblPr/>
              <a:tblGrid>
                <a:gridCol w="1632857"/>
                <a:gridCol w="1632857"/>
                <a:gridCol w="1632857"/>
                <a:gridCol w="1632857"/>
                <a:gridCol w="1632857"/>
                <a:gridCol w="1632857"/>
                <a:gridCol w="16328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8.2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Testing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&amp;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utility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witness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test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Commissioning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2027-04-22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2027-05-05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9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Commercial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operation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2027-05-14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2026-07-18T08:31:44Z</dcterms:created>
  <dcterms:modified xsi:type="dcterms:W3CDTF">2026-07-18T08:31:44Z</dcterms:modified>
</cp:coreProperties>
</file>