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Solar Farm Construction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Solar Farm Construction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22989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6413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61931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355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087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29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39815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239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8757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181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769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12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56641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06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95583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00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4525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94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73467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891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12409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833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51351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775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90293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717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29235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265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68177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601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07118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542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46060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948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85002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8426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23944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7368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6288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631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5760" y="103327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Development &amp; feasibility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1119146"/>
            <a:ext cx="125170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125988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 control &amp; pre-feasibility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0" y="1305604"/>
            <a:ext cx="695392" cy="135172"/>
          </a:xfrm>
          <a:prstGeom prst="roundRect">
            <a:avLst>
              <a:gd name="adj" fmla="val 20294"/>
            </a:avLst>
          </a:prstGeom>
          <a:solidFill>
            <a:srgbClr val="64748B"/>
          </a:solidFill>
          <a:ln/>
        </p:spPr>
      </p:sp>
      <p:sp>
        <p:nvSpPr>
          <p:cNvPr id="49" name="Shape 47"/>
          <p:cNvSpPr/>
          <p:nvPr/>
        </p:nvSpPr>
        <p:spPr>
          <a:xfrm>
            <a:off x="3840480" y="1305604"/>
            <a:ext cx="69539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148649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Solar resource &amp; layout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396793" y="1532216"/>
            <a:ext cx="695392" cy="135172"/>
          </a:xfrm>
          <a:prstGeom prst="roundRect">
            <a:avLst>
              <a:gd name="adj" fmla="val 20294"/>
            </a:avLst>
          </a:prstGeom>
          <a:solidFill>
            <a:srgbClr val="94A3B8"/>
          </a:solidFill>
          <a:ln/>
        </p:spPr>
      </p:sp>
      <p:sp>
        <p:nvSpPr>
          <p:cNvPr id="52" name="Shape 50"/>
          <p:cNvSpPr/>
          <p:nvPr/>
        </p:nvSpPr>
        <p:spPr>
          <a:xfrm>
            <a:off x="4396793" y="1532216"/>
            <a:ext cx="69539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171310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Interconnection &amp; environmental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53107" y="1798983"/>
            <a:ext cx="250341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193972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Interconnection application &amp; study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53107" y="1985441"/>
            <a:ext cx="2086175" cy="135172"/>
          </a:xfrm>
          <a:prstGeom prst="roundRect">
            <a:avLst>
              <a:gd name="adj" fmla="val 20294"/>
            </a:avLst>
          </a:prstGeom>
          <a:solidFill>
            <a:srgbClr val="2563EB"/>
          </a:solidFill>
          <a:ln/>
        </p:spPr>
      </p:sp>
      <p:sp>
        <p:nvSpPr>
          <p:cNvPr id="57" name="Shape 55"/>
          <p:cNvSpPr/>
          <p:nvPr/>
        </p:nvSpPr>
        <p:spPr>
          <a:xfrm>
            <a:off x="4953107" y="1985441"/>
            <a:ext cx="146032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216633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Environmental assessment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70342" y="2212053"/>
            <a:ext cx="1390783" cy="135172"/>
          </a:xfrm>
          <a:prstGeom prst="roundRect">
            <a:avLst>
              <a:gd name="adj" fmla="val 20294"/>
            </a:avLst>
          </a:prstGeom>
          <a:solidFill>
            <a:srgbClr val="3B82F6"/>
          </a:solidFill>
          <a:ln/>
        </p:spPr>
      </p:sp>
      <p:sp>
        <p:nvSpPr>
          <p:cNvPr id="60" name="Shape 58"/>
          <p:cNvSpPr/>
          <p:nvPr/>
        </p:nvSpPr>
        <p:spPr>
          <a:xfrm>
            <a:off x="5370342" y="2212053"/>
            <a:ext cx="834470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239294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Interconnection agreement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74220" y="2442243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261955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Design &amp; permitting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00203" y="2705431"/>
            <a:ext cx="166894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284616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Civil &amp; electrical design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00203" y="2891889"/>
            <a:ext cx="1112627" cy="135172"/>
          </a:xfrm>
          <a:prstGeom prst="roundRect">
            <a:avLst>
              <a:gd name="adj" fmla="val 20294"/>
            </a:avLst>
          </a:prstGeom>
          <a:solidFill>
            <a:srgbClr val="A855F7"/>
          </a:solidFill>
          <a:ln/>
        </p:spPr>
      </p:sp>
      <p:sp>
        <p:nvSpPr>
          <p:cNvPr id="67" name="Shape 65"/>
          <p:cNvSpPr/>
          <p:nvPr/>
        </p:nvSpPr>
        <p:spPr>
          <a:xfrm>
            <a:off x="6900203" y="2891889"/>
            <a:ext cx="50068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307278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Local permits &amp; approvals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56516" y="3118502"/>
            <a:ext cx="1112627" cy="135172"/>
          </a:xfrm>
          <a:prstGeom prst="roundRect">
            <a:avLst>
              <a:gd name="adj" fmla="val 20294"/>
            </a:avLst>
          </a:prstGeom>
          <a:solidFill>
            <a:srgbClr val="C084FC"/>
          </a:solidFill>
          <a:ln/>
        </p:spPr>
      </p:sp>
      <p:sp>
        <p:nvSpPr>
          <p:cNvPr id="70" name="Shape 68"/>
          <p:cNvSpPr/>
          <p:nvPr/>
        </p:nvSpPr>
        <p:spPr>
          <a:xfrm>
            <a:off x="7456516" y="3118502"/>
            <a:ext cx="222525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3299394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Notice to proceed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486847" y="3348692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526006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Procurement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734673" y="3611880"/>
            <a:ext cx="208617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5" name="Text 73"/>
          <p:cNvSpPr/>
          <p:nvPr/>
        </p:nvSpPr>
        <p:spPr>
          <a:xfrm>
            <a:off x="365760" y="375261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Modules &amp; inverters ordered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734673" y="3798338"/>
            <a:ext cx="1668940" cy="135172"/>
          </a:xfrm>
          <a:prstGeom prst="roundRect">
            <a:avLst>
              <a:gd name="adj" fmla="val 20294"/>
            </a:avLst>
          </a:prstGeom>
          <a:solidFill>
            <a:srgbClr val="0D9488"/>
          </a:solidFill>
          <a:ln/>
        </p:spPr>
      </p:sp>
      <p:sp>
        <p:nvSpPr>
          <p:cNvPr id="77" name="Shape 75"/>
          <p:cNvSpPr/>
          <p:nvPr/>
        </p:nvSpPr>
        <p:spPr>
          <a:xfrm>
            <a:off x="7734673" y="3798338"/>
            <a:ext cx="500682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397923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Transformer &amp; HV gear (long lead)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34673" y="4024950"/>
            <a:ext cx="2086175" cy="135172"/>
          </a:xfrm>
          <a:prstGeom prst="roundRect">
            <a:avLst>
              <a:gd name="adj" fmla="val 20294"/>
            </a:avLst>
          </a:prstGeom>
          <a:solidFill>
            <a:srgbClr val="14B8A6"/>
          </a:solidFill>
          <a:ln/>
        </p:spPr>
      </p:sp>
      <p:sp>
        <p:nvSpPr>
          <p:cNvPr id="80" name="Shape 78"/>
          <p:cNvSpPr/>
          <p:nvPr/>
        </p:nvSpPr>
        <p:spPr>
          <a:xfrm>
            <a:off x="7734673" y="4024950"/>
            <a:ext cx="417235" cy="135172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365760" y="4205842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Civil &amp; mechanical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624774" y="4291717"/>
            <a:ext cx="208617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443245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Mobilization &amp; access roads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624774" y="4478175"/>
            <a:ext cx="417235" cy="135172"/>
          </a:xfrm>
          <a:prstGeom prst="roundRect">
            <a:avLst>
              <a:gd name="adj" fmla="val 20294"/>
            </a:avLst>
          </a:prstGeom>
          <a:solidFill>
            <a:srgbClr val="F59E0B"/>
          </a:solidFill>
          <a:ln/>
        </p:spPr>
      </p:sp>
      <p:sp>
        <p:nvSpPr>
          <p:cNvPr id="85" name="Text 83"/>
          <p:cNvSpPr/>
          <p:nvPr/>
        </p:nvSpPr>
        <p:spPr>
          <a:xfrm>
            <a:off x="365760" y="4659067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Grading &amp; fencing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986378" y="4704787"/>
            <a:ext cx="556313" cy="135172"/>
          </a:xfrm>
          <a:prstGeom prst="roundRect">
            <a:avLst>
              <a:gd name="adj" fmla="val 20294"/>
            </a:avLst>
          </a:prstGeom>
          <a:solidFill>
            <a:srgbClr val="FBBF24"/>
          </a:solidFill>
          <a:ln/>
        </p:spPr>
      </p:sp>
      <p:sp>
        <p:nvSpPr>
          <p:cNvPr id="87" name="Text 85"/>
          <p:cNvSpPr/>
          <p:nvPr/>
        </p:nvSpPr>
        <p:spPr>
          <a:xfrm>
            <a:off x="365760" y="4885679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Pile driving &amp; racking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9459244" y="4931399"/>
            <a:ext cx="834470" cy="135172"/>
          </a:xfrm>
          <a:prstGeom prst="roundRect">
            <a:avLst>
              <a:gd name="adj" fmla="val 20294"/>
            </a:avLst>
          </a:prstGeom>
          <a:solidFill>
            <a:srgbClr val="F59E0B"/>
          </a:solidFill>
          <a:ln/>
        </p:spPr>
      </p:sp>
      <p:sp>
        <p:nvSpPr>
          <p:cNvPr id="89" name="Text 87"/>
          <p:cNvSpPr/>
          <p:nvPr/>
        </p:nvSpPr>
        <p:spPr>
          <a:xfrm>
            <a:off x="365760" y="5112291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Module install &amp; DC wiring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099004" y="5158011"/>
            <a:ext cx="611945" cy="135172"/>
          </a:xfrm>
          <a:prstGeom prst="roundRect">
            <a:avLst>
              <a:gd name="adj" fmla="val 20294"/>
            </a:avLst>
          </a:prstGeom>
          <a:solidFill>
            <a:srgbClr val="FBBF24"/>
          </a:solidFill>
          <a:ln/>
        </p:spPr>
      </p:sp>
      <p:sp>
        <p:nvSpPr>
          <p:cNvPr id="91" name="Text 89"/>
          <p:cNvSpPr/>
          <p:nvPr/>
        </p:nvSpPr>
        <p:spPr>
          <a:xfrm>
            <a:off x="365760" y="5338903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Electrical &amp; commissioning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0516239" y="5424777"/>
            <a:ext cx="125170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3" name="Text 91"/>
          <p:cNvSpPr/>
          <p:nvPr/>
        </p:nvSpPr>
        <p:spPr>
          <a:xfrm>
            <a:off x="365760" y="5565515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Inverters, combiners &amp; substation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516239" y="5611235"/>
            <a:ext cx="695392" cy="135172"/>
          </a:xfrm>
          <a:prstGeom prst="roundRect">
            <a:avLst>
              <a:gd name="adj" fmla="val 20294"/>
            </a:avLst>
          </a:prstGeom>
          <a:solidFill>
            <a:srgbClr val="EA580C"/>
          </a:solidFill>
          <a:ln/>
        </p:spPr>
      </p:sp>
      <p:sp>
        <p:nvSpPr>
          <p:cNvPr id="95" name="Text 93"/>
          <p:cNvSpPr/>
          <p:nvPr/>
        </p:nvSpPr>
        <p:spPr>
          <a:xfrm>
            <a:off x="365760" y="5792128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Testing &amp; utility witness test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1156000" y="5837848"/>
            <a:ext cx="389419" cy="135172"/>
          </a:xfrm>
          <a:prstGeom prst="roundRect">
            <a:avLst>
              <a:gd name="adj" fmla="val 20294"/>
            </a:avLst>
          </a:prstGeom>
          <a:solidFill>
            <a:srgbClr val="F97316"/>
          </a:solidFill>
          <a:ln/>
        </p:spPr>
      </p:sp>
      <p:sp>
        <p:nvSpPr>
          <p:cNvPr id="97" name="Text 95"/>
          <p:cNvSpPr/>
          <p:nvPr/>
        </p:nvSpPr>
        <p:spPr>
          <a:xfrm>
            <a:off x="365760" y="6018740"/>
            <a:ext cx="3291840" cy="226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Commercial operation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1685648" y="6068038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99" name="Text 9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control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pre-feasibility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Solar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layout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Interconnection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Interconnection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application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Environmental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assessment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Consultant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Interconnection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agreement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Notice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Modules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inverters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Transformer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HV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(long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Mobilization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access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EPC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fencing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Pile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driving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racking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Module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install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Inverters,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combiners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substation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witness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Commercial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