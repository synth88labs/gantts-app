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Grant Proposal Timeline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Grant Proposal Timeline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94350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7774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04653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077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1495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838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25259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83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35562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986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45865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289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616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59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6470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894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76773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197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8707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50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97379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03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07682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106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17985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409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28288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71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38590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014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48893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317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5919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262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69499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923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79802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226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90105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529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00408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3832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10710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4134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21013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4437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21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31316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740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41619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5043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19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51922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5346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62225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5649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2528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952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82830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6254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13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93133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6557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0343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686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13739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7163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25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724042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7466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8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734345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7769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22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744648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8072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6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54951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8375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765253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8677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7555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898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17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8585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928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31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96162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9586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14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806465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9889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28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816768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0192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13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827071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90495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27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837373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079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10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84767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110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24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85797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140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8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868282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31706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22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878585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2009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5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888888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52312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19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99191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62615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909493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7291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17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919796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83220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31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93009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9352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14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940402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03826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28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950705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14129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11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961008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24432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25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9713110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34735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9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981613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4503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23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99191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5534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6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100221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6564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20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012522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75946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4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10228253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86249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18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1033128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96552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1043431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06855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15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1053733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1715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29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06403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2746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12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10743396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3776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26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1084642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48066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12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1094945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58369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26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1105248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068672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9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11155511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789751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23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11258539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0892779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7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11361568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9958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21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11464597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1098837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4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11567625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1201865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18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11670654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130489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2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11773682" y="1051560"/>
            <a:ext cx="0" cy="52120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140792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16</a:t>
            </a:r>
            <a:endParaRPr lang="en-US" sz="700" dirty="0"/>
          </a:p>
        </p:txBody>
      </p:sp>
      <p:sp>
        <p:nvSpPr>
          <p:cNvPr id="159" name="Text 157"/>
          <p:cNvSpPr/>
          <p:nvPr/>
        </p:nvSpPr>
        <p:spPr>
          <a:xfrm>
            <a:off x="365760" y="1033272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WP1 — Management &amp; coordination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3840480" y="1129937"/>
            <a:ext cx="794792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1" name="Text 159"/>
          <p:cNvSpPr/>
          <p:nvPr/>
        </p:nvSpPr>
        <p:spPr>
          <a:xfrm>
            <a:off x="365760" y="1281466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Kick-off &amp; governance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3840480" y="1327186"/>
            <a:ext cx="441551" cy="156754"/>
          </a:xfrm>
          <a:prstGeom prst="roundRect">
            <a:avLst>
              <a:gd name="adj" fmla="val 17500"/>
            </a:avLst>
          </a:prstGeom>
          <a:solidFill>
            <a:srgbClr val="64748B"/>
          </a:solidFill>
          <a:ln/>
        </p:spPr>
      </p:sp>
      <p:sp>
        <p:nvSpPr>
          <p:cNvPr id="163" name="Shape 161"/>
          <p:cNvSpPr/>
          <p:nvPr/>
        </p:nvSpPr>
        <p:spPr>
          <a:xfrm>
            <a:off x="3840480" y="1327186"/>
            <a:ext cx="441551" cy="156754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4" name="Text 162"/>
          <p:cNvSpPr/>
          <p:nvPr/>
        </p:nvSpPr>
        <p:spPr>
          <a:xfrm>
            <a:off x="365760" y="1529661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Ongoing coordination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4282031" y="1575381"/>
            <a:ext cx="7506370" cy="156754"/>
          </a:xfrm>
          <a:prstGeom prst="roundRect">
            <a:avLst>
              <a:gd name="adj" fmla="val 17500"/>
            </a:avLst>
          </a:prstGeom>
          <a:solidFill>
            <a:srgbClr val="94A3B8"/>
          </a:solidFill>
          <a:ln/>
        </p:spPr>
      </p:sp>
      <p:sp>
        <p:nvSpPr>
          <p:cNvPr id="166" name="Shape 164"/>
          <p:cNvSpPr/>
          <p:nvPr/>
        </p:nvSpPr>
        <p:spPr>
          <a:xfrm>
            <a:off x="4282031" y="1575381"/>
            <a:ext cx="1125955" cy="156754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7" name="Text 165"/>
          <p:cNvSpPr/>
          <p:nvPr/>
        </p:nvSpPr>
        <p:spPr>
          <a:xfrm>
            <a:off x="365760" y="1777855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WP2 — Preparation &amp; setup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4061256" y="1874520"/>
            <a:ext cx="154542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9" name="Text 167"/>
          <p:cNvSpPr/>
          <p:nvPr/>
        </p:nvSpPr>
        <p:spPr>
          <a:xfrm>
            <a:off x="365760" y="2026049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Ethics &amp; regulatory approval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4061256" y="2071769"/>
            <a:ext cx="883102" cy="156754"/>
          </a:xfrm>
          <a:prstGeom prst="roundRect">
            <a:avLst>
              <a:gd name="adj" fmla="val 17500"/>
            </a:avLst>
          </a:prstGeom>
          <a:solidFill>
            <a:srgbClr val="4F46E5"/>
          </a:solidFill>
          <a:ln/>
        </p:spPr>
      </p:sp>
      <p:sp>
        <p:nvSpPr>
          <p:cNvPr id="171" name="Shape 169"/>
          <p:cNvSpPr/>
          <p:nvPr/>
        </p:nvSpPr>
        <p:spPr>
          <a:xfrm>
            <a:off x="4061256" y="2071769"/>
            <a:ext cx="706482" cy="156754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72" name="Text 170"/>
          <p:cNvSpPr/>
          <p:nvPr/>
        </p:nvSpPr>
        <p:spPr>
          <a:xfrm>
            <a:off x="365760" y="2274243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Recruitment &amp; infrastructure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4944358" y="2319963"/>
            <a:ext cx="662327" cy="156754"/>
          </a:xfrm>
          <a:prstGeom prst="roundRect">
            <a:avLst>
              <a:gd name="adj" fmla="val 17500"/>
            </a:avLst>
          </a:prstGeom>
          <a:solidFill>
            <a:srgbClr val="6366F1"/>
          </a:solidFill>
          <a:ln/>
        </p:spPr>
      </p:sp>
      <p:sp>
        <p:nvSpPr>
          <p:cNvPr id="174" name="Shape 172"/>
          <p:cNvSpPr/>
          <p:nvPr/>
        </p:nvSpPr>
        <p:spPr>
          <a:xfrm>
            <a:off x="4944358" y="2319963"/>
            <a:ext cx="264931" cy="156754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75" name="Text 173"/>
          <p:cNvSpPr/>
          <p:nvPr/>
        </p:nvSpPr>
        <p:spPr>
          <a:xfrm>
            <a:off x="365760" y="2522438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Setup complete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5524389" y="2582527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77" name="Text 175"/>
          <p:cNvSpPr/>
          <p:nvPr/>
        </p:nvSpPr>
        <p:spPr>
          <a:xfrm>
            <a:off x="365760" y="2770632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WP3 — Core work package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5606685" y="2867297"/>
            <a:ext cx="3532409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9" name="Text 177"/>
          <p:cNvSpPr/>
          <p:nvPr/>
        </p:nvSpPr>
        <p:spPr>
          <a:xfrm>
            <a:off x="365760" y="3018826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Objective 1 activity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5606685" y="3064546"/>
            <a:ext cx="1766205" cy="156754"/>
          </a:xfrm>
          <a:prstGeom prst="roundRect">
            <a:avLst>
              <a:gd name="adj" fmla="val 17500"/>
            </a:avLst>
          </a:prstGeom>
          <a:solidFill>
            <a:srgbClr val="2563EB"/>
          </a:solidFill>
          <a:ln/>
        </p:spPr>
      </p:sp>
      <p:sp>
        <p:nvSpPr>
          <p:cNvPr id="181" name="Text 179"/>
          <p:cNvSpPr/>
          <p:nvPr/>
        </p:nvSpPr>
        <p:spPr>
          <a:xfrm>
            <a:off x="365760" y="3267021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Objective 2 activity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6931338" y="3312741"/>
            <a:ext cx="2207756" cy="156754"/>
          </a:xfrm>
          <a:prstGeom prst="roundRect">
            <a:avLst>
              <a:gd name="adj" fmla="val 17500"/>
            </a:avLst>
          </a:prstGeom>
          <a:solidFill>
            <a:srgbClr val="3B82F6"/>
          </a:solidFill>
          <a:ln/>
        </p:spPr>
      </p:sp>
      <p:sp>
        <p:nvSpPr>
          <p:cNvPr id="183" name="Text 181"/>
          <p:cNvSpPr/>
          <p:nvPr/>
        </p:nvSpPr>
        <p:spPr>
          <a:xfrm>
            <a:off x="365760" y="3515215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Interim results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8173696" y="3575304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85" name="Text 183"/>
          <p:cNvSpPr/>
          <p:nvPr/>
        </p:nvSpPr>
        <p:spPr>
          <a:xfrm>
            <a:off x="365760" y="3763409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WP4 — Analysis &amp; validation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8255992" y="3860074"/>
            <a:ext cx="2428531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7" name="Text 185"/>
          <p:cNvSpPr/>
          <p:nvPr/>
        </p:nvSpPr>
        <p:spPr>
          <a:xfrm>
            <a:off x="365760" y="4011603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Data analysis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8255992" y="4057323"/>
            <a:ext cx="1545429" cy="156754"/>
          </a:xfrm>
          <a:prstGeom prst="roundRect">
            <a:avLst>
              <a:gd name="adj" fmla="val 17500"/>
            </a:avLst>
          </a:prstGeom>
          <a:solidFill>
            <a:srgbClr val="0D9488"/>
          </a:solidFill>
          <a:ln/>
        </p:spPr>
      </p:sp>
      <p:sp>
        <p:nvSpPr>
          <p:cNvPr id="189" name="Text 187"/>
          <p:cNvSpPr/>
          <p:nvPr/>
        </p:nvSpPr>
        <p:spPr>
          <a:xfrm>
            <a:off x="365760" y="4259798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Validation &amp; replication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9580645" y="4305518"/>
            <a:ext cx="1103878" cy="156754"/>
          </a:xfrm>
          <a:prstGeom prst="roundRect">
            <a:avLst>
              <a:gd name="adj" fmla="val 17500"/>
            </a:avLst>
          </a:prstGeom>
          <a:solidFill>
            <a:srgbClr val="14B8A6"/>
          </a:solidFill>
          <a:ln/>
        </p:spPr>
      </p:sp>
      <p:sp>
        <p:nvSpPr>
          <p:cNvPr id="191" name="Text 189"/>
          <p:cNvSpPr/>
          <p:nvPr/>
        </p:nvSpPr>
        <p:spPr>
          <a:xfrm>
            <a:off x="365760" y="4507992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WP5 — Dissemination &amp; impact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8697543" y="4604657"/>
            <a:ext cx="3090858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3" name="Text 191"/>
          <p:cNvSpPr/>
          <p:nvPr/>
        </p:nvSpPr>
        <p:spPr>
          <a:xfrm>
            <a:off x="365760" y="4756186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Publications</a:t>
            </a:r>
            <a:endParaRPr lang="en-US" sz="900" dirty="0"/>
          </a:p>
        </p:txBody>
      </p:sp>
      <p:sp>
        <p:nvSpPr>
          <p:cNvPr id="194" name="Shape 192"/>
          <p:cNvSpPr/>
          <p:nvPr/>
        </p:nvSpPr>
        <p:spPr>
          <a:xfrm>
            <a:off x="8697543" y="4801906"/>
            <a:ext cx="2207756" cy="156754"/>
          </a:xfrm>
          <a:prstGeom prst="roundRect">
            <a:avLst>
              <a:gd name="adj" fmla="val 17500"/>
            </a:avLst>
          </a:prstGeom>
          <a:solidFill>
            <a:srgbClr val="A855F7"/>
          </a:solidFill>
          <a:ln/>
        </p:spPr>
      </p:sp>
      <p:sp>
        <p:nvSpPr>
          <p:cNvPr id="195" name="Text 193"/>
          <p:cNvSpPr/>
          <p:nvPr/>
        </p:nvSpPr>
        <p:spPr>
          <a:xfrm>
            <a:off x="365760" y="5004381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Conferences &amp; stakeholder engagement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9580645" y="5050101"/>
            <a:ext cx="2207756" cy="156754"/>
          </a:xfrm>
          <a:prstGeom prst="roundRect">
            <a:avLst>
              <a:gd name="adj" fmla="val 17500"/>
            </a:avLst>
          </a:prstGeom>
          <a:solidFill>
            <a:srgbClr val="C084FC"/>
          </a:solidFill>
          <a:ln/>
        </p:spPr>
      </p:sp>
      <p:sp>
        <p:nvSpPr>
          <p:cNvPr id="197" name="Text 195"/>
          <p:cNvSpPr/>
          <p:nvPr/>
        </p:nvSpPr>
        <p:spPr>
          <a:xfrm>
            <a:off x="365760" y="5252575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Reporting</a:t>
            </a:r>
            <a:endParaRPr lang="en-US" sz="900" dirty="0"/>
          </a:p>
        </p:txBody>
      </p:sp>
      <p:sp>
        <p:nvSpPr>
          <p:cNvPr id="198" name="Shape 196"/>
          <p:cNvSpPr/>
          <p:nvPr/>
        </p:nvSpPr>
        <p:spPr>
          <a:xfrm>
            <a:off x="6489787" y="5349240"/>
            <a:ext cx="5298614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9" name="Text 197"/>
          <p:cNvSpPr/>
          <p:nvPr/>
        </p:nvSpPr>
        <p:spPr>
          <a:xfrm>
            <a:off x="365760" y="5500769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Year 1 report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6444287" y="5560858"/>
            <a:ext cx="164592" cy="164592"/>
          </a:xfrm>
          <a:prstGeom prst="diamond">
            <a:avLst/>
          </a:prstGeom>
          <a:solidFill>
            <a:srgbClr val="F59E0B"/>
          </a:solidFill>
          <a:ln/>
        </p:spPr>
      </p:sp>
      <p:sp>
        <p:nvSpPr>
          <p:cNvPr id="201" name="Text 199"/>
          <p:cNvSpPr/>
          <p:nvPr/>
        </p:nvSpPr>
        <p:spPr>
          <a:xfrm>
            <a:off x="365760" y="5748963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Year 2 report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9130390" y="5809053"/>
            <a:ext cx="164592" cy="164592"/>
          </a:xfrm>
          <a:prstGeom prst="diamond">
            <a:avLst/>
          </a:prstGeom>
          <a:solidFill>
            <a:srgbClr val="F59E0B"/>
          </a:solidFill>
          <a:ln/>
        </p:spPr>
      </p:sp>
      <p:sp>
        <p:nvSpPr>
          <p:cNvPr id="203" name="Text 201"/>
          <p:cNvSpPr/>
          <p:nvPr/>
        </p:nvSpPr>
        <p:spPr>
          <a:xfrm>
            <a:off x="365760" y="5997158"/>
            <a:ext cx="3291840" cy="24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Final report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11706105" y="6057247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05" name="Text 203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WP1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Management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coordination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2029-07-16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Kick-off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governance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Ongoing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coordination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2029-07-16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WP2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Preparation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Ethics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regulatory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approval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Recruitment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infrastructure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2026-12-30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Setup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WP3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Core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package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2028-07-21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Objective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activity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2027-03-30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2027-11-24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Objective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activity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2027-09-26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2028-07-21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Interim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results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WP4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validation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2029-02-16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Analyst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2028-03-24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2028-10-19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Validation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replication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2029-02-16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WP5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Dissemination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2029-07-16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Publications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2028-05-23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2029-03-18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Conferences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stakeholder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engagement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2028-09-20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2029-07-16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Reporting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2029-07-16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2028-08-01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2028-08-01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2029-07-17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2029-07-17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2026-07-18T08:31:45Z</dcterms:created>
  <dcterms:modified xsi:type="dcterms:W3CDTF">2026-07-18T08:31:45Z</dcterms:modified>
</cp:coreProperties>
</file>