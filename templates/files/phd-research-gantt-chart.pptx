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36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PhD Research Timeline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PhD Research Timeline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392479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903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00910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334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09341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2765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417772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1196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26203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9627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34634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8058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43065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489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1496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4920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9927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3351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358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1782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6789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213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85220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644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93651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075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082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5506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10513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3937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18944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368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527375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799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35806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9230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44237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661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52668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6092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561099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4523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24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69530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2954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7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577961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1385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21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586392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9816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94823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247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19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603254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667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2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11685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510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20116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8354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30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628547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1971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13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636978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00402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645410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08834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653841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7265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62272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5696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8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670703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34127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22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679134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2558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6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687565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0989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20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695996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9420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3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704427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67851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17</a:t>
            </a:r>
            <a:endParaRPr lang="en-US" sz="700" dirty="0"/>
          </a:p>
        </p:txBody>
      </p:sp>
      <p:sp>
        <p:nvSpPr>
          <p:cNvPr id="81" name="Shape 79"/>
          <p:cNvSpPr/>
          <p:nvPr/>
        </p:nvSpPr>
        <p:spPr>
          <a:xfrm>
            <a:off x="712858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76282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31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721289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471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14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729720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3144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28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738151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01575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13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46582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0006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27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755013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843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10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63444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26868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24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771875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35299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8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80306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43730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22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788737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52161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5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797168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60592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19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05599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6902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3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814030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77454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17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822461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85885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31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830892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3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14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839323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0274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28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847754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11178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11</a:t>
            </a:r>
            <a:endParaRPr lang="en-US" sz="700" dirty="0"/>
          </a:p>
        </p:txBody>
      </p:sp>
      <p:sp>
        <p:nvSpPr>
          <p:cNvPr id="115" name="Shape 113"/>
          <p:cNvSpPr/>
          <p:nvPr/>
        </p:nvSpPr>
        <p:spPr>
          <a:xfrm>
            <a:off x="856185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19609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25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864616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28040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9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873047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6471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23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881478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44902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6</a:t>
            </a:r>
            <a:endParaRPr lang="en-US" sz="700" dirty="0"/>
          </a:p>
        </p:txBody>
      </p:sp>
      <p:sp>
        <p:nvSpPr>
          <p:cNvPr id="123" name="Shape 121"/>
          <p:cNvSpPr/>
          <p:nvPr/>
        </p:nvSpPr>
        <p:spPr>
          <a:xfrm>
            <a:off x="889909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53333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20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898340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61764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4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906771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70195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18</a:t>
            </a:r>
            <a:endParaRPr lang="en-US" sz="700" dirty="0"/>
          </a:p>
        </p:txBody>
      </p:sp>
      <p:sp>
        <p:nvSpPr>
          <p:cNvPr id="129" name="Shape 127"/>
          <p:cNvSpPr/>
          <p:nvPr/>
        </p:nvSpPr>
        <p:spPr>
          <a:xfrm>
            <a:off x="915203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78627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923634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87058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15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932065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9548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29</a:t>
            </a:r>
            <a:endParaRPr lang="en-US" sz="700" dirty="0"/>
          </a:p>
        </p:txBody>
      </p:sp>
      <p:sp>
        <p:nvSpPr>
          <p:cNvPr id="135" name="Shape 133"/>
          <p:cNvSpPr/>
          <p:nvPr/>
        </p:nvSpPr>
        <p:spPr>
          <a:xfrm>
            <a:off x="940496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903920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12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948927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12351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26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957358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20782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12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5789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29213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26</a:t>
            </a:r>
            <a:endParaRPr lang="en-US" sz="700" dirty="0"/>
          </a:p>
        </p:txBody>
      </p:sp>
      <p:sp>
        <p:nvSpPr>
          <p:cNvPr id="143" name="Shape 141"/>
          <p:cNvSpPr/>
          <p:nvPr/>
        </p:nvSpPr>
        <p:spPr>
          <a:xfrm>
            <a:off x="974220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937644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9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82651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4607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23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991082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5450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7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999513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962937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21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1007944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71368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4</a:t>
            </a:r>
            <a:endParaRPr lang="en-US" sz="700" dirty="0"/>
          </a:p>
        </p:txBody>
      </p:sp>
      <p:sp>
        <p:nvSpPr>
          <p:cNvPr id="153" name="Shape 151"/>
          <p:cNvSpPr/>
          <p:nvPr/>
        </p:nvSpPr>
        <p:spPr>
          <a:xfrm>
            <a:off x="1016375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979799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Jun 18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1024806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88230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2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1033237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96661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16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1041668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005092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Jul 30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1050099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1013523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13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058530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021954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27</a:t>
            </a:r>
            <a:endParaRPr lang="en-US" sz="700" dirty="0"/>
          </a:p>
        </p:txBody>
      </p:sp>
      <p:sp>
        <p:nvSpPr>
          <p:cNvPr id="165" name="Shape 163"/>
          <p:cNvSpPr/>
          <p:nvPr/>
        </p:nvSpPr>
        <p:spPr>
          <a:xfrm>
            <a:off x="1066961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03038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10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075392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038816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24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83823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47247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8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1092254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055678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22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100685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64109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5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1109116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72540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19</a:t>
            </a:r>
            <a:endParaRPr lang="en-US" sz="700" dirty="0"/>
          </a:p>
        </p:txBody>
      </p:sp>
      <p:sp>
        <p:nvSpPr>
          <p:cNvPr id="177" name="Shape 175"/>
          <p:cNvSpPr/>
          <p:nvPr/>
        </p:nvSpPr>
        <p:spPr>
          <a:xfrm>
            <a:off x="1117547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1080971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3</a:t>
            </a:r>
            <a:endParaRPr lang="en-US" sz="700" dirty="0"/>
          </a:p>
        </p:txBody>
      </p:sp>
      <p:sp>
        <p:nvSpPr>
          <p:cNvPr id="179" name="Shape 177"/>
          <p:cNvSpPr/>
          <p:nvPr/>
        </p:nvSpPr>
        <p:spPr>
          <a:xfrm>
            <a:off x="1125978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1089402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17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1134409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1097833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31</a:t>
            </a:r>
            <a:endParaRPr lang="en-US" sz="700" dirty="0"/>
          </a:p>
        </p:txBody>
      </p:sp>
      <p:sp>
        <p:nvSpPr>
          <p:cNvPr id="183" name="Shape 181"/>
          <p:cNvSpPr/>
          <p:nvPr/>
        </p:nvSpPr>
        <p:spPr>
          <a:xfrm>
            <a:off x="1142840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10626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14</a:t>
            </a:r>
            <a:endParaRPr lang="en-US" sz="700" dirty="0"/>
          </a:p>
        </p:txBody>
      </p:sp>
      <p:sp>
        <p:nvSpPr>
          <p:cNvPr id="185" name="Shape 183"/>
          <p:cNvSpPr/>
          <p:nvPr/>
        </p:nvSpPr>
        <p:spPr>
          <a:xfrm>
            <a:off x="1151271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1114695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28</a:t>
            </a:r>
            <a:endParaRPr lang="en-US" sz="700" dirty="0"/>
          </a:p>
        </p:txBody>
      </p:sp>
      <p:sp>
        <p:nvSpPr>
          <p:cNvPr id="187" name="Shape 185"/>
          <p:cNvSpPr/>
          <p:nvPr/>
        </p:nvSpPr>
        <p:spPr>
          <a:xfrm>
            <a:off x="1159702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1123126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11</a:t>
            </a:r>
            <a:endParaRPr lang="en-US" sz="700" dirty="0"/>
          </a:p>
        </p:txBody>
      </p:sp>
      <p:sp>
        <p:nvSpPr>
          <p:cNvPr id="189" name="Shape 187"/>
          <p:cNvSpPr/>
          <p:nvPr/>
        </p:nvSpPr>
        <p:spPr>
          <a:xfrm>
            <a:off x="1168133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1131557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25</a:t>
            </a:r>
            <a:endParaRPr lang="en-US" sz="700" dirty="0"/>
          </a:p>
        </p:txBody>
      </p:sp>
      <p:sp>
        <p:nvSpPr>
          <p:cNvPr id="191" name="Shape 189"/>
          <p:cNvSpPr/>
          <p:nvPr/>
        </p:nvSpPr>
        <p:spPr>
          <a:xfrm>
            <a:off x="1176564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139988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11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365760" y="10332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Year 1 — foundations</a:t>
            </a:r>
            <a:endParaRPr lang="en-US" sz="900" dirty="0"/>
          </a:p>
        </p:txBody>
      </p:sp>
      <p:sp>
        <p:nvSpPr>
          <p:cNvPr id="194" name="Shape 192"/>
          <p:cNvSpPr/>
          <p:nvPr/>
        </p:nvSpPr>
        <p:spPr>
          <a:xfrm>
            <a:off x="3840480" y="1114425"/>
            <a:ext cx="180665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5" name="Text 193"/>
          <p:cNvSpPr/>
          <p:nvPr/>
        </p:nvSpPr>
        <p:spPr>
          <a:xfrm>
            <a:off x="365760" y="12504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Coursework &amp; methods training</a:t>
            </a:r>
            <a:endParaRPr lang="en-US" sz="900" dirty="0"/>
          </a:p>
        </p:txBody>
      </p:sp>
      <p:sp>
        <p:nvSpPr>
          <p:cNvPr id="196" name="Shape 194"/>
          <p:cNvSpPr/>
          <p:nvPr/>
        </p:nvSpPr>
        <p:spPr>
          <a:xfrm>
            <a:off x="3840480" y="1296162"/>
            <a:ext cx="1083990" cy="125730"/>
          </a:xfrm>
          <a:prstGeom prst="roundRect">
            <a:avLst>
              <a:gd name="adj" fmla="val 21818"/>
            </a:avLst>
          </a:prstGeom>
          <a:solidFill>
            <a:srgbClr val="64748B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840480" y="1296162"/>
            <a:ext cx="1083990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98" name="Text 196"/>
          <p:cNvSpPr/>
          <p:nvPr/>
        </p:nvSpPr>
        <p:spPr>
          <a:xfrm>
            <a:off x="365760" y="14676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Literature scoping</a:t>
            </a:r>
            <a:endParaRPr lang="en-US" sz="900" dirty="0"/>
          </a:p>
        </p:txBody>
      </p:sp>
      <p:sp>
        <p:nvSpPr>
          <p:cNvPr id="199" name="Shape 197"/>
          <p:cNvSpPr/>
          <p:nvPr/>
        </p:nvSpPr>
        <p:spPr>
          <a:xfrm>
            <a:off x="4021145" y="1513332"/>
            <a:ext cx="903325" cy="125730"/>
          </a:xfrm>
          <a:prstGeom prst="roundRect">
            <a:avLst>
              <a:gd name="adj" fmla="val 21818"/>
            </a:avLst>
          </a:prstGeom>
          <a:solidFill>
            <a:srgbClr val="94A3B8"/>
          </a:solidFill>
          <a:ln/>
        </p:spPr>
      </p:sp>
      <p:sp>
        <p:nvSpPr>
          <p:cNvPr id="200" name="Shape 198"/>
          <p:cNvSpPr/>
          <p:nvPr/>
        </p:nvSpPr>
        <p:spPr>
          <a:xfrm>
            <a:off x="4021145" y="1513332"/>
            <a:ext cx="903325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1" name="Text 199"/>
          <p:cNvSpPr/>
          <p:nvPr/>
        </p:nvSpPr>
        <p:spPr>
          <a:xfrm>
            <a:off x="365760" y="16847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Qualifying / upgrade exam</a:t>
            </a:r>
            <a:endParaRPr lang="en-US" sz="900" dirty="0"/>
          </a:p>
        </p:txBody>
      </p:sp>
      <p:sp>
        <p:nvSpPr>
          <p:cNvPr id="202" name="Shape 200"/>
          <p:cNvSpPr/>
          <p:nvPr/>
        </p:nvSpPr>
        <p:spPr>
          <a:xfrm>
            <a:off x="5564834" y="172935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03" name="Text 201"/>
          <p:cNvSpPr/>
          <p:nvPr/>
        </p:nvSpPr>
        <p:spPr>
          <a:xfrm>
            <a:off x="365760" y="190195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Proposal &amp; candidacy</a:t>
            </a:r>
            <a:endParaRPr lang="en-US" sz="900" dirty="0"/>
          </a:p>
        </p:txBody>
      </p:sp>
      <p:sp>
        <p:nvSpPr>
          <p:cNvPr id="204" name="Shape 202"/>
          <p:cNvSpPr/>
          <p:nvPr/>
        </p:nvSpPr>
        <p:spPr>
          <a:xfrm>
            <a:off x="5285800" y="1983105"/>
            <a:ext cx="90332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05" name="Text 203"/>
          <p:cNvSpPr/>
          <p:nvPr/>
        </p:nvSpPr>
        <p:spPr>
          <a:xfrm>
            <a:off x="365760" y="211912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Research design &amp; proposal</a:t>
            </a:r>
            <a:endParaRPr lang="en-US" sz="900" dirty="0"/>
          </a:p>
        </p:txBody>
      </p:sp>
      <p:sp>
        <p:nvSpPr>
          <p:cNvPr id="206" name="Shape 204"/>
          <p:cNvSpPr/>
          <p:nvPr/>
        </p:nvSpPr>
        <p:spPr>
          <a:xfrm>
            <a:off x="5285800" y="2164842"/>
            <a:ext cx="662438" cy="125730"/>
          </a:xfrm>
          <a:prstGeom prst="roundRect">
            <a:avLst>
              <a:gd name="adj" fmla="val 21818"/>
            </a:avLst>
          </a:prstGeom>
          <a:solidFill>
            <a:srgbClr val="6366F1"/>
          </a:solidFill>
          <a:ln/>
        </p:spPr>
      </p:sp>
      <p:sp>
        <p:nvSpPr>
          <p:cNvPr id="207" name="Shape 205"/>
          <p:cNvSpPr/>
          <p:nvPr/>
        </p:nvSpPr>
        <p:spPr>
          <a:xfrm>
            <a:off x="5285800" y="2164842"/>
            <a:ext cx="662438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08" name="Text 206"/>
          <p:cNvSpPr/>
          <p:nvPr/>
        </p:nvSpPr>
        <p:spPr>
          <a:xfrm>
            <a:off x="365760" y="233629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Proposal defense</a:t>
            </a:r>
            <a:endParaRPr lang="en-US" sz="900" dirty="0"/>
          </a:p>
        </p:txBody>
      </p:sp>
      <p:sp>
        <p:nvSpPr>
          <p:cNvPr id="209" name="Shape 207"/>
          <p:cNvSpPr/>
          <p:nvPr/>
        </p:nvSpPr>
        <p:spPr>
          <a:xfrm>
            <a:off x="6106828" y="238086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10" name="Text 208"/>
          <p:cNvSpPr/>
          <p:nvPr/>
        </p:nvSpPr>
        <p:spPr>
          <a:xfrm>
            <a:off x="365760" y="255346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Year 2 — data collection</a:t>
            </a:r>
            <a:endParaRPr lang="en-US" sz="900" dirty="0"/>
          </a:p>
        </p:txBody>
      </p:sp>
      <p:sp>
        <p:nvSpPr>
          <p:cNvPr id="211" name="Shape 209"/>
          <p:cNvSpPr/>
          <p:nvPr/>
        </p:nvSpPr>
        <p:spPr>
          <a:xfrm>
            <a:off x="6189124" y="2634615"/>
            <a:ext cx="198731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2" name="Text 210"/>
          <p:cNvSpPr/>
          <p:nvPr/>
        </p:nvSpPr>
        <p:spPr>
          <a:xfrm>
            <a:off x="365760" y="277063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Ethics approval</a:t>
            </a:r>
            <a:endParaRPr lang="en-US" sz="900" dirty="0"/>
          </a:p>
        </p:txBody>
      </p:sp>
      <p:sp>
        <p:nvSpPr>
          <p:cNvPr id="213" name="Shape 211"/>
          <p:cNvSpPr/>
          <p:nvPr/>
        </p:nvSpPr>
        <p:spPr>
          <a:xfrm>
            <a:off x="6189124" y="2816352"/>
            <a:ext cx="361330" cy="125730"/>
          </a:xfrm>
          <a:prstGeom prst="roundRect">
            <a:avLst>
              <a:gd name="adj" fmla="val 21818"/>
            </a:avLst>
          </a:prstGeom>
          <a:solidFill>
            <a:srgbClr val="EA580C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189124" y="2816352"/>
            <a:ext cx="361330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15" name="Text 213"/>
          <p:cNvSpPr/>
          <p:nvPr/>
        </p:nvSpPr>
        <p:spPr>
          <a:xfrm>
            <a:off x="365760" y="298780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Fieldwork / experiments</a:t>
            </a:r>
            <a:endParaRPr lang="en-US" sz="900" dirty="0"/>
          </a:p>
        </p:txBody>
      </p:sp>
      <p:sp>
        <p:nvSpPr>
          <p:cNvPr id="216" name="Shape 214"/>
          <p:cNvSpPr/>
          <p:nvPr/>
        </p:nvSpPr>
        <p:spPr>
          <a:xfrm>
            <a:off x="6550454" y="3033522"/>
            <a:ext cx="1445320" cy="125730"/>
          </a:xfrm>
          <a:prstGeom prst="roundRect">
            <a:avLst>
              <a:gd name="adj" fmla="val 21818"/>
            </a:avLst>
          </a:prstGeom>
          <a:solidFill>
            <a:srgbClr val="F97316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550454" y="3033522"/>
            <a:ext cx="361330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18" name="Text 216"/>
          <p:cNvSpPr/>
          <p:nvPr/>
        </p:nvSpPr>
        <p:spPr>
          <a:xfrm>
            <a:off x="365760" y="32049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First conference paper</a:t>
            </a:r>
            <a:endParaRPr lang="en-US" sz="900" dirty="0"/>
          </a:p>
        </p:txBody>
      </p:sp>
      <p:sp>
        <p:nvSpPr>
          <p:cNvPr id="219" name="Shape 217"/>
          <p:cNvSpPr/>
          <p:nvPr/>
        </p:nvSpPr>
        <p:spPr>
          <a:xfrm>
            <a:off x="7453779" y="3250692"/>
            <a:ext cx="541995" cy="125730"/>
          </a:xfrm>
          <a:prstGeom prst="roundRect">
            <a:avLst>
              <a:gd name="adj" fmla="val 21818"/>
            </a:avLst>
          </a:prstGeom>
          <a:solidFill>
            <a:srgbClr val="FBBF24"/>
          </a:solidFill>
          <a:ln/>
        </p:spPr>
      </p:sp>
      <p:sp>
        <p:nvSpPr>
          <p:cNvPr id="220" name="Shape 218"/>
          <p:cNvSpPr/>
          <p:nvPr/>
        </p:nvSpPr>
        <p:spPr>
          <a:xfrm>
            <a:off x="7453779" y="3250692"/>
            <a:ext cx="54199" cy="12573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1" name="Text 219"/>
          <p:cNvSpPr/>
          <p:nvPr/>
        </p:nvSpPr>
        <p:spPr>
          <a:xfrm>
            <a:off x="365760" y="34221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Year 3 — analysis &amp; output</a:t>
            </a:r>
            <a:endParaRPr lang="en-US" sz="900" dirty="0"/>
          </a:p>
        </p:txBody>
      </p:sp>
      <p:sp>
        <p:nvSpPr>
          <p:cNvPr id="222" name="Shape 220"/>
          <p:cNvSpPr/>
          <p:nvPr/>
        </p:nvSpPr>
        <p:spPr>
          <a:xfrm>
            <a:off x="8055996" y="3503295"/>
            <a:ext cx="180665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23" name="Text 221"/>
          <p:cNvSpPr/>
          <p:nvPr/>
        </p:nvSpPr>
        <p:spPr>
          <a:xfrm>
            <a:off x="365760" y="36393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Data analysis</a:t>
            </a:r>
            <a:endParaRPr lang="en-US" sz="900" dirty="0"/>
          </a:p>
        </p:txBody>
      </p:sp>
      <p:sp>
        <p:nvSpPr>
          <p:cNvPr id="224" name="Shape 222"/>
          <p:cNvSpPr/>
          <p:nvPr/>
        </p:nvSpPr>
        <p:spPr>
          <a:xfrm>
            <a:off x="8055996" y="3685032"/>
            <a:ext cx="1083990" cy="125730"/>
          </a:xfrm>
          <a:prstGeom prst="roundRect">
            <a:avLst>
              <a:gd name="adj" fmla="val 21818"/>
            </a:avLst>
          </a:prstGeom>
          <a:solidFill>
            <a:srgbClr val="0EA5E9"/>
          </a:solidFill>
          <a:ln/>
        </p:spPr>
      </p:sp>
      <p:sp>
        <p:nvSpPr>
          <p:cNvPr id="225" name="Text 223"/>
          <p:cNvSpPr/>
          <p:nvPr/>
        </p:nvSpPr>
        <p:spPr>
          <a:xfrm>
            <a:off x="365760" y="38564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Journal submissions</a:t>
            </a:r>
            <a:endParaRPr lang="en-US" sz="900" dirty="0"/>
          </a:p>
        </p:txBody>
      </p:sp>
      <p:sp>
        <p:nvSpPr>
          <p:cNvPr id="226" name="Shape 224"/>
          <p:cNvSpPr/>
          <p:nvPr/>
        </p:nvSpPr>
        <p:spPr>
          <a:xfrm>
            <a:off x="8778655" y="3902202"/>
            <a:ext cx="1083990" cy="125730"/>
          </a:xfrm>
          <a:prstGeom prst="roundRect">
            <a:avLst>
              <a:gd name="adj" fmla="val 21818"/>
            </a:avLst>
          </a:prstGeom>
          <a:solidFill>
            <a:srgbClr val="38BDF8"/>
          </a:solidFill>
          <a:ln/>
        </p:spPr>
      </p:sp>
      <p:sp>
        <p:nvSpPr>
          <p:cNvPr id="227" name="Text 225"/>
          <p:cNvSpPr/>
          <p:nvPr/>
        </p:nvSpPr>
        <p:spPr>
          <a:xfrm>
            <a:off x="365760" y="407365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Writing up</a:t>
            </a:r>
            <a:endParaRPr lang="en-US" sz="900" dirty="0"/>
          </a:p>
        </p:txBody>
      </p:sp>
      <p:sp>
        <p:nvSpPr>
          <p:cNvPr id="228" name="Shape 226"/>
          <p:cNvSpPr/>
          <p:nvPr/>
        </p:nvSpPr>
        <p:spPr>
          <a:xfrm>
            <a:off x="9561537" y="4154805"/>
            <a:ext cx="14453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29" name="Text 227"/>
          <p:cNvSpPr/>
          <p:nvPr/>
        </p:nvSpPr>
        <p:spPr>
          <a:xfrm>
            <a:off x="365760" y="429082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Chapter drafting</a:t>
            </a:r>
            <a:endParaRPr lang="en-US" sz="900" dirty="0"/>
          </a:p>
        </p:txBody>
      </p:sp>
      <p:sp>
        <p:nvSpPr>
          <p:cNvPr id="230" name="Shape 228"/>
          <p:cNvSpPr/>
          <p:nvPr/>
        </p:nvSpPr>
        <p:spPr>
          <a:xfrm>
            <a:off x="9561537" y="4336542"/>
            <a:ext cx="903325" cy="125730"/>
          </a:xfrm>
          <a:prstGeom prst="roundRect">
            <a:avLst>
              <a:gd name="adj" fmla="val 21818"/>
            </a:avLst>
          </a:prstGeom>
          <a:solidFill>
            <a:srgbClr val="9333EA"/>
          </a:solidFill>
          <a:ln/>
        </p:spPr>
      </p:sp>
      <p:sp>
        <p:nvSpPr>
          <p:cNvPr id="231" name="Text 229"/>
          <p:cNvSpPr/>
          <p:nvPr/>
        </p:nvSpPr>
        <p:spPr>
          <a:xfrm>
            <a:off x="365760" y="450799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Supervisor feedback cycles</a:t>
            </a:r>
            <a:endParaRPr lang="en-US" sz="900" dirty="0"/>
          </a:p>
        </p:txBody>
      </p:sp>
      <p:sp>
        <p:nvSpPr>
          <p:cNvPr id="232" name="Shape 230"/>
          <p:cNvSpPr/>
          <p:nvPr/>
        </p:nvSpPr>
        <p:spPr>
          <a:xfrm>
            <a:off x="10284197" y="4553712"/>
            <a:ext cx="421552" cy="125730"/>
          </a:xfrm>
          <a:prstGeom prst="roundRect">
            <a:avLst>
              <a:gd name="adj" fmla="val 21818"/>
            </a:avLst>
          </a:prstGeom>
          <a:solidFill>
            <a:srgbClr val="C084FC"/>
          </a:solidFill>
          <a:ln/>
        </p:spPr>
      </p:sp>
      <p:sp>
        <p:nvSpPr>
          <p:cNvPr id="233" name="Text 231"/>
          <p:cNvSpPr/>
          <p:nvPr/>
        </p:nvSpPr>
        <p:spPr>
          <a:xfrm>
            <a:off x="365760" y="472516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Full revision &amp; formatting</a:t>
            </a:r>
            <a:endParaRPr lang="en-US" sz="900" dirty="0"/>
          </a:p>
        </p:txBody>
      </p:sp>
      <p:sp>
        <p:nvSpPr>
          <p:cNvPr id="234" name="Shape 232"/>
          <p:cNvSpPr/>
          <p:nvPr/>
        </p:nvSpPr>
        <p:spPr>
          <a:xfrm>
            <a:off x="10645526" y="4770882"/>
            <a:ext cx="361330" cy="125730"/>
          </a:xfrm>
          <a:prstGeom prst="roundRect">
            <a:avLst>
              <a:gd name="adj" fmla="val 21818"/>
            </a:avLst>
          </a:prstGeom>
          <a:solidFill>
            <a:srgbClr val="9333EA"/>
          </a:solidFill>
          <a:ln/>
        </p:spPr>
      </p:sp>
      <p:sp>
        <p:nvSpPr>
          <p:cNvPr id="235" name="Text 233"/>
          <p:cNvSpPr/>
          <p:nvPr/>
        </p:nvSpPr>
        <p:spPr>
          <a:xfrm>
            <a:off x="365760" y="494233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Submission &amp; viva</a:t>
            </a:r>
            <a:endParaRPr lang="en-US" sz="900" dirty="0"/>
          </a:p>
        </p:txBody>
      </p:sp>
      <p:sp>
        <p:nvSpPr>
          <p:cNvPr id="236" name="Shape 234"/>
          <p:cNvSpPr/>
          <p:nvPr/>
        </p:nvSpPr>
        <p:spPr>
          <a:xfrm>
            <a:off x="11006856" y="5023485"/>
            <a:ext cx="782881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7" name="Text 235"/>
          <p:cNvSpPr/>
          <p:nvPr/>
        </p:nvSpPr>
        <p:spPr>
          <a:xfrm>
            <a:off x="365760" y="515950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Thesis submitted</a:t>
            </a:r>
            <a:endParaRPr lang="en-US" sz="900" dirty="0"/>
          </a:p>
        </p:txBody>
      </p:sp>
      <p:sp>
        <p:nvSpPr>
          <p:cNvPr id="238" name="Shape 236"/>
          <p:cNvSpPr/>
          <p:nvPr/>
        </p:nvSpPr>
        <p:spPr>
          <a:xfrm>
            <a:off x="10954671" y="520407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39" name="Text 237"/>
          <p:cNvSpPr/>
          <p:nvPr/>
        </p:nvSpPr>
        <p:spPr>
          <a:xfrm>
            <a:off x="365760" y="537667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Examiner reading period</a:t>
            </a:r>
            <a:endParaRPr lang="en-US" sz="900" dirty="0"/>
          </a:p>
        </p:txBody>
      </p:sp>
      <p:sp>
        <p:nvSpPr>
          <p:cNvPr id="240" name="Shape 238"/>
          <p:cNvSpPr/>
          <p:nvPr/>
        </p:nvSpPr>
        <p:spPr>
          <a:xfrm>
            <a:off x="11036967" y="5422392"/>
            <a:ext cx="451662" cy="125730"/>
          </a:xfrm>
          <a:prstGeom prst="roundRect">
            <a:avLst>
              <a:gd name="adj" fmla="val 21818"/>
            </a:avLst>
          </a:prstGeom>
          <a:solidFill>
            <a:srgbClr val="0D9488"/>
          </a:solidFill>
          <a:ln/>
        </p:spPr>
      </p:sp>
      <p:sp>
        <p:nvSpPr>
          <p:cNvPr id="241" name="Text 239"/>
          <p:cNvSpPr/>
          <p:nvPr/>
        </p:nvSpPr>
        <p:spPr>
          <a:xfrm>
            <a:off x="365760" y="559384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Viva voce</a:t>
            </a:r>
            <a:endParaRPr lang="en-US" sz="900" dirty="0"/>
          </a:p>
        </p:txBody>
      </p:sp>
      <p:sp>
        <p:nvSpPr>
          <p:cNvPr id="242" name="Shape 240"/>
          <p:cNvSpPr/>
          <p:nvPr/>
        </p:nvSpPr>
        <p:spPr>
          <a:xfrm>
            <a:off x="11436444" y="5638419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243" name="Text 241"/>
          <p:cNvSpPr/>
          <p:nvPr/>
        </p:nvSpPr>
        <p:spPr>
          <a:xfrm>
            <a:off x="365760" y="581101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Corrections</a:t>
            </a:r>
            <a:endParaRPr lang="en-US" sz="900" dirty="0"/>
          </a:p>
        </p:txBody>
      </p:sp>
      <p:sp>
        <p:nvSpPr>
          <p:cNvPr id="244" name="Shape 242"/>
          <p:cNvSpPr/>
          <p:nvPr/>
        </p:nvSpPr>
        <p:spPr>
          <a:xfrm>
            <a:off x="11518740" y="5856732"/>
            <a:ext cx="270997" cy="125730"/>
          </a:xfrm>
          <a:prstGeom prst="roundRect">
            <a:avLst>
              <a:gd name="adj" fmla="val 21818"/>
            </a:avLst>
          </a:prstGeom>
          <a:solidFill>
            <a:srgbClr val="14B8A6"/>
          </a:solidFill>
          <a:ln/>
        </p:spPr>
      </p:sp>
      <p:sp>
        <p:nvSpPr>
          <p:cNvPr id="245" name="Text 243"/>
          <p:cNvSpPr/>
          <p:nvPr/>
        </p:nvSpPr>
        <p:spPr>
          <a:xfrm>
            <a:off x="365760" y="6028182"/>
            <a:ext cx="3291840" cy="2171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Degree awarded</a:t>
            </a:r>
            <a:endParaRPr lang="en-US" sz="900" dirty="0"/>
          </a:p>
        </p:txBody>
      </p:sp>
      <p:sp>
        <p:nvSpPr>
          <p:cNvPr id="246" name="Shape 244"/>
          <p:cNvSpPr/>
          <p:nvPr/>
        </p:nvSpPr>
        <p:spPr>
          <a:xfrm>
            <a:off x="11707442" y="6072759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247" name="Text 245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foundations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Coursework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methods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training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Literature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Qualifying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upgrade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candidacy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2027-07-17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defense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collection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2028-07-21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Ethics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Committee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2027-10-25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Fieldwork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experiments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2027-10-26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2028-06-21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conference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paper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2028-03-24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2028-06-21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output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2028-07-02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2029-04-27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Data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analysis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2028-07-02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2028-12-28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Journal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2028-10-30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2029-04-27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Writing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up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2029-03-09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Chapter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drafting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2029-03-09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Supervisor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feedback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cycles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Supervisor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2029-07-07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2029-09-14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Full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revision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formatting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Submission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viva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2030-03-13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Thesis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submitted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Examiner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period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Examiners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2029-11-09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2030-01-22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Viva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voce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Corrections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2030-01-28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2030-03-13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Degree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awarded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2030-03-14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2030-03-14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2026-07-18T08:12:39Z</dcterms:created>
  <dcterms:modified xsi:type="dcterms:W3CDTF">2026-07-18T08:12:39Z</dcterms:modified>
</cp:coreProperties>
</file>