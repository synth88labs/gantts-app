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PhD Research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PhD Research Timeline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92479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5903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00910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334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0934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76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7772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196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26203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627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463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05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306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48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1496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920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992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5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358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782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6789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213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5220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644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93651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075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08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50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10513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937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18944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368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27375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799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580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3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4237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66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52668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092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1099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4523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69530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954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77961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1385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86392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816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9482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824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254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67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11685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5109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20116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54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8547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1971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3697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040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4541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883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5384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6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227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69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70703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4127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79134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2558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87565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989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9599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942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0442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785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1285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628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21289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4713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72972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314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28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38151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1575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13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46582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0006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27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5501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843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63444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686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24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71875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529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8030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373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88737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5216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97168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60592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19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0559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902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814030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77454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17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22461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85885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31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830892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431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14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839323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0274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28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847754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11178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5618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1960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25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6461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2804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9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73047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6471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88147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4490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6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889909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3333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89834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6176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4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90677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019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18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915203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78627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23634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8705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15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932065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9548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29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94049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392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12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948927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235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26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957358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2078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12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5789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29213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26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974220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37644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9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82651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46075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23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991082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5450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7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999513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62937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21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1007944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1368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4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37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7979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18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024806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8823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2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033237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9666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16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041668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05092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30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105009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1352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13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058530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21954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27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1066961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3038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10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07539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3881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24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83823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47247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8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1092254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055678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22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100685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64109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5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110911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7254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19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111754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8097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3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1125978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89402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17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1134409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97833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31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1142840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10626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14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1151271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114695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28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1159702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123126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11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116813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13155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25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117656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13998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11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365760" y="10332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Year 1 — foundations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3840480" y="1114425"/>
            <a:ext cx="180665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5" name="Text 193"/>
          <p:cNvSpPr/>
          <p:nvPr/>
        </p:nvSpPr>
        <p:spPr>
          <a:xfrm>
            <a:off x="365760" y="12504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Coursework &amp; methods training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3840480" y="1296162"/>
            <a:ext cx="1083990" cy="125730"/>
          </a:xfrm>
          <a:prstGeom prst="roundRect">
            <a:avLst>
              <a:gd name="adj" fmla="val 21818"/>
            </a:avLst>
          </a:prstGeom>
          <a:solidFill>
            <a:srgbClr val="64748B"/>
          </a:solidFill>
          <a:ln/>
        </p:spPr>
      </p:sp>
      <p:sp>
        <p:nvSpPr>
          <p:cNvPr id="197" name="Shape 195"/>
          <p:cNvSpPr/>
          <p:nvPr/>
        </p:nvSpPr>
        <p:spPr>
          <a:xfrm>
            <a:off x="3840480" y="1296162"/>
            <a:ext cx="108399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98" name="Text 196"/>
          <p:cNvSpPr/>
          <p:nvPr/>
        </p:nvSpPr>
        <p:spPr>
          <a:xfrm>
            <a:off x="365760" y="14676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Literature scoping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4021145" y="1513332"/>
            <a:ext cx="903325" cy="125730"/>
          </a:xfrm>
          <a:prstGeom prst="roundRect">
            <a:avLst>
              <a:gd name="adj" fmla="val 21818"/>
            </a:avLst>
          </a:prstGeom>
          <a:solidFill>
            <a:srgbClr val="94A3B8"/>
          </a:solidFill>
          <a:ln/>
        </p:spPr>
      </p:sp>
      <p:sp>
        <p:nvSpPr>
          <p:cNvPr id="200" name="Shape 198"/>
          <p:cNvSpPr/>
          <p:nvPr/>
        </p:nvSpPr>
        <p:spPr>
          <a:xfrm>
            <a:off x="4021145" y="1513332"/>
            <a:ext cx="903325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01" name="Text 199"/>
          <p:cNvSpPr/>
          <p:nvPr/>
        </p:nvSpPr>
        <p:spPr>
          <a:xfrm>
            <a:off x="365760" y="16847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Qualifying / upgrade exam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5564834" y="17293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03" name="Text 201"/>
          <p:cNvSpPr/>
          <p:nvPr/>
        </p:nvSpPr>
        <p:spPr>
          <a:xfrm>
            <a:off x="365760" y="19019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Proposal &amp; candidacy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5285800" y="1983105"/>
            <a:ext cx="90332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5" name="Text 203"/>
          <p:cNvSpPr/>
          <p:nvPr/>
        </p:nvSpPr>
        <p:spPr>
          <a:xfrm>
            <a:off x="365760" y="21191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Research design &amp; proposal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5285800" y="2164842"/>
            <a:ext cx="662438" cy="12573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207" name="Shape 205"/>
          <p:cNvSpPr/>
          <p:nvPr/>
        </p:nvSpPr>
        <p:spPr>
          <a:xfrm>
            <a:off x="5285800" y="2164842"/>
            <a:ext cx="662438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08" name="Text 206"/>
          <p:cNvSpPr/>
          <p:nvPr/>
        </p:nvSpPr>
        <p:spPr>
          <a:xfrm>
            <a:off x="365760" y="23362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Proposal defense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6106828" y="238086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10" name="Text 208"/>
          <p:cNvSpPr/>
          <p:nvPr/>
        </p:nvSpPr>
        <p:spPr>
          <a:xfrm>
            <a:off x="365760" y="25534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Year 2 — data collection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6189124" y="2634615"/>
            <a:ext cx="198731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2" name="Text 210"/>
          <p:cNvSpPr/>
          <p:nvPr/>
        </p:nvSpPr>
        <p:spPr>
          <a:xfrm>
            <a:off x="365760" y="27706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Ethics approval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6189124" y="2816352"/>
            <a:ext cx="361330" cy="125730"/>
          </a:xfrm>
          <a:prstGeom prst="roundRect">
            <a:avLst>
              <a:gd name="adj" fmla="val 21818"/>
            </a:avLst>
          </a:prstGeom>
          <a:solidFill>
            <a:srgbClr val="EA580C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189124" y="2816352"/>
            <a:ext cx="36133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15" name="Text 213"/>
          <p:cNvSpPr/>
          <p:nvPr/>
        </p:nvSpPr>
        <p:spPr>
          <a:xfrm>
            <a:off x="365760" y="29878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Fieldwork / experiments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6550454" y="3033522"/>
            <a:ext cx="1445320" cy="125730"/>
          </a:xfrm>
          <a:prstGeom prst="roundRect">
            <a:avLst>
              <a:gd name="adj" fmla="val 21818"/>
            </a:avLst>
          </a:prstGeom>
          <a:solidFill>
            <a:srgbClr val="F97316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550454" y="3033522"/>
            <a:ext cx="361330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18" name="Text 216"/>
          <p:cNvSpPr/>
          <p:nvPr/>
        </p:nvSpPr>
        <p:spPr>
          <a:xfrm>
            <a:off x="365760" y="32049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First conference paper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7453779" y="3250692"/>
            <a:ext cx="541995" cy="125730"/>
          </a:xfrm>
          <a:prstGeom prst="roundRect">
            <a:avLst>
              <a:gd name="adj" fmla="val 21818"/>
            </a:avLst>
          </a:prstGeom>
          <a:solidFill>
            <a:srgbClr val="FBBF24"/>
          </a:solidFill>
          <a:ln/>
        </p:spPr>
      </p:sp>
      <p:sp>
        <p:nvSpPr>
          <p:cNvPr id="220" name="Shape 218"/>
          <p:cNvSpPr/>
          <p:nvPr/>
        </p:nvSpPr>
        <p:spPr>
          <a:xfrm>
            <a:off x="7453779" y="3250692"/>
            <a:ext cx="54199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1" name="Text 219"/>
          <p:cNvSpPr/>
          <p:nvPr/>
        </p:nvSpPr>
        <p:spPr>
          <a:xfrm>
            <a:off x="365760" y="34221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Year 3 — analysis &amp; output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8055996" y="3503295"/>
            <a:ext cx="180665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3" name="Text 221"/>
          <p:cNvSpPr/>
          <p:nvPr/>
        </p:nvSpPr>
        <p:spPr>
          <a:xfrm>
            <a:off x="365760" y="36393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8055996" y="3685032"/>
            <a:ext cx="1083990" cy="125730"/>
          </a:xfrm>
          <a:prstGeom prst="roundRect">
            <a:avLst>
              <a:gd name="adj" fmla="val 21818"/>
            </a:avLst>
          </a:prstGeom>
          <a:solidFill>
            <a:srgbClr val="0EA5E9"/>
          </a:solidFill>
          <a:ln/>
        </p:spPr>
      </p:sp>
      <p:sp>
        <p:nvSpPr>
          <p:cNvPr id="225" name="Text 223"/>
          <p:cNvSpPr/>
          <p:nvPr/>
        </p:nvSpPr>
        <p:spPr>
          <a:xfrm>
            <a:off x="365760" y="38564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Journal submissions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8778655" y="3902202"/>
            <a:ext cx="1083990" cy="12573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/>
        </p:spPr>
      </p:sp>
      <p:sp>
        <p:nvSpPr>
          <p:cNvPr id="227" name="Text 225"/>
          <p:cNvSpPr/>
          <p:nvPr/>
        </p:nvSpPr>
        <p:spPr>
          <a:xfrm>
            <a:off x="365760" y="40736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Writing up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9561537" y="4154805"/>
            <a:ext cx="14453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9" name="Text 227"/>
          <p:cNvSpPr/>
          <p:nvPr/>
        </p:nvSpPr>
        <p:spPr>
          <a:xfrm>
            <a:off x="365760" y="42908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Chapter drafting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9561537" y="4336542"/>
            <a:ext cx="903325" cy="125730"/>
          </a:xfrm>
          <a:prstGeom prst="roundRect">
            <a:avLst>
              <a:gd name="adj" fmla="val 21818"/>
            </a:avLst>
          </a:prstGeom>
          <a:solidFill>
            <a:srgbClr val="9333EA"/>
          </a:solidFill>
          <a:ln/>
        </p:spPr>
      </p:sp>
      <p:sp>
        <p:nvSpPr>
          <p:cNvPr id="231" name="Text 229"/>
          <p:cNvSpPr/>
          <p:nvPr/>
        </p:nvSpPr>
        <p:spPr>
          <a:xfrm>
            <a:off x="365760" y="45079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Supervisor feedback cycles</a:t>
            </a:r>
            <a:endParaRPr lang="en-US" sz="900" dirty="0"/>
          </a:p>
        </p:txBody>
      </p:sp>
      <p:sp>
        <p:nvSpPr>
          <p:cNvPr id="232" name="Shape 230"/>
          <p:cNvSpPr/>
          <p:nvPr/>
        </p:nvSpPr>
        <p:spPr>
          <a:xfrm>
            <a:off x="10284197" y="4553712"/>
            <a:ext cx="421552" cy="125730"/>
          </a:xfrm>
          <a:prstGeom prst="roundRect">
            <a:avLst>
              <a:gd name="adj" fmla="val 21818"/>
            </a:avLst>
          </a:prstGeom>
          <a:solidFill>
            <a:srgbClr val="C084FC"/>
          </a:solidFill>
          <a:ln/>
        </p:spPr>
      </p:sp>
      <p:sp>
        <p:nvSpPr>
          <p:cNvPr id="233" name="Text 231"/>
          <p:cNvSpPr/>
          <p:nvPr/>
        </p:nvSpPr>
        <p:spPr>
          <a:xfrm>
            <a:off x="365760" y="47251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Full revision &amp; formatting</a:t>
            </a:r>
            <a:endParaRPr lang="en-US" sz="900" dirty="0"/>
          </a:p>
        </p:txBody>
      </p:sp>
      <p:sp>
        <p:nvSpPr>
          <p:cNvPr id="234" name="Shape 232"/>
          <p:cNvSpPr/>
          <p:nvPr/>
        </p:nvSpPr>
        <p:spPr>
          <a:xfrm>
            <a:off x="10645526" y="4770882"/>
            <a:ext cx="361330" cy="125730"/>
          </a:xfrm>
          <a:prstGeom prst="roundRect">
            <a:avLst>
              <a:gd name="adj" fmla="val 21818"/>
            </a:avLst>
          </a:prstGeom>
          <a:solidFill>
            <a:srgbClr val="9333EA"/>
          </a:solidFill>
          <a:ln/>
        </p:spPr>
      </p:sp>
      <p:sp>
        <p:nvSpPr>
          <p:cNvPr id="235" name="Text 233"/>
          <p:cNvSpPr/>
          <p:nvPr/>
        </p:nvSpPr>
        <p:spPr>
          <a:xfrm>
            <a:off x="365760" y="49423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Submission &amp; viva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11006856" y="5023485"/>
            <a:ext cx="78288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7" name="Text 235"/>
          <p:cNvSpPr/>
          <p:nvPr/>
        </p:nvSpPr>
        <p:spPr>
          <a:xfrm>
            <a:off x="365760" y="51595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Thesis submitted</a:t>
            </a:r>
            <a:endParaRPr lang="en-US" sz="900" dirty="0"/>
          </a:p>
        </p:txBody>
      </p:sp>
      <p:sp>
        <p:nvSpPr>
          <p:cNvPr id="238" name="Shape 236"/>
          <p:cNvSpPr/>
          <p:nvPr/>
        </p:nvSpPr>
        <p:spPr>
          <a:xfrm>
            <a:off x="10954671" y="520407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39" name="Text 237"/>
          <p:cNvSpPr/>
          <p:nvPr/>
        </p:nvSpPr>
        <p:spPr>
          <a:xfrm>
            <a:off x="365760" y="53766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Examiner reading period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11036967" y="5422392"/>
            <a:ext cx="451662" cy="12573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241" name="Text 239"/>
          <p:cNvSpPr/>
          <p:nvPr/>
        </p:nvSpPr>
        <p:spPr>
          <a:xfrm>
            <a:off x="365760" y="55938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Viva voce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11436444" y="5638419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243" name="Text 241"/>
          <p:cNvSpPr/>
          <p:nvPr/>
        </p:nvSpPr>
        <p:spPr>
          <a:xfrm>
            <a:off x="365760" y="58110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Corrections</a:t>
            </a:r>
            <a:endParaRPr lang="en-US" sz="900" dirty="0"/>
          </a:p>
        </p:txBody>
      </p:sp>
      <p:sp>
        <p:nvSpPr>
          <p:cNvPr id="244" name="Shape 242"/>
          <p:cNvSpPr/>
          <p:nvPr/>
        </p:nvSpPr>
        <p:spPr>
          <a:xfrm>
            <a:off x="11518740" y="5856732"/>
            <a:ext cx="270997" cy="125730"/>
          </a:xfrm>
          <a:prstGeom prst="roundRect">
            <a:avLst>
              <a:gd name="adj" fmla="val 21818"/>
            </a:avLst>
          </a:prstGeom>
          <a:solidFill>
            <a:srgbClr val="14B8A6"/>
          </a:solidFill>
          <a:ln/>
        </p:spPr>
      </p:sp>
      <p:sp>
        <p:nvSpPr>
          <p:cNvPr id="245" name="Text 243"/>
          <p:cNvSpPr/>
          <p:nvPr/>
        </p:nvSpPr>
        <p:spPr>
          <a:xfrm>
            <a:off x="365760" y="60281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Degree awarded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11707442" y="60727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47" name="Text 24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foundations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Coursework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methods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Literature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Qualifying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upgrade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candidacy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defense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collection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Ethics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Committee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Fieldwork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experiments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2028-06-21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conference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paper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2028-06-21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2029-04-27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2028-12-28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Journal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2029-04-27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2029-03-09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Chapter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drafting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2029-03-09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Supervisor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feedback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cycles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Supervisor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2029-09-14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formatting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Submission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submitted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Examiner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period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Examiners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2030-01-22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Viva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voce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Corrections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Degree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awarded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2030-03-14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