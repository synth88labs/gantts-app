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Wind Farm Construction Schedule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Wind Farm Construction Schedule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96834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0258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09621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45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22408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32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35195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8619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47982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06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0769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193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3556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980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86343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767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9130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554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11917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341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24703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127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37490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914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50277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701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63064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488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75851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275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88638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2062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01425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4849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14212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7636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26999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0423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39786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21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52573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5997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65359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8783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7814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57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21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90933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4357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03720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144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19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16507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9931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29294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2718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742081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5505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54868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8292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13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67655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079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80442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386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93228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6652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06015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9439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8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18802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2226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22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83158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501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6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84437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780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857163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058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3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69950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3374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17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882737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616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31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895524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58948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14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908311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1735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28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92109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8452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13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933884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97308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27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946671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10095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10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959458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22882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24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972245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35669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8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85032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48456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22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997819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61243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5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1010606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74030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19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023393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6817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036180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99604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17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1048966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1239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31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1061753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025177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14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1074540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37964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28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1087327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5075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11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1100114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63538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25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1112901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76325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9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1125688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89112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23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1138475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101899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6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1151262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114686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20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164049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127473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4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1176835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140259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18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365760" y="10332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Site assessment &amp; resource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3840480" y="1114425"/>
            <a:ext cx="365340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1" name="Text 129"/>
          <p:cNvSpPr/>
          <p:nvPr/>
        </p:nvSpPr>
        <p:spPr>
          <a:xfrm>
            <a:off x="365760" y="12504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Site selection &amp; land agreements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3840480" y="1296162"/>
            <a:ext cx="822015" cy="125730"/>
          </a:xfrm>
          <a:prstGeom prst="roundRect">
            <a:avLst>
              <a:gd name="adj" fmla="val 21818"/>
            </a:avLst>
          </a:prstGeom>
          <a:solidFill>
            <a:srgbClr val="64748B"/>
          </a:solidFill>
          <a:ln/>
        </p:spPr>
      </p:sp>
      <p:sp>
        <p:nvSpPr>
          <p:cNvPr id="133" name="Shape 131"/>
          <p:cNvSpPr/>
          <p:nvPr/>
        </p:nvSpPr>
        <p:spPr>
          <a:xfrm>
            <a:off x="3840480" y="1296162"/>
            <a:ext cx="822015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4" name="Text 132"/>
          <p:cNvSpPr/>
          <p:nvPr/>
        </p:nvSpPr>
        <p:spPr>
          <a:xfrm>
            <a:off x="365760" y="14676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Met mast / LiDAR install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571160" y="1513332"/>
            <a:ext cx="274005" cy="125730"/>
          </a:xfrm>
          <a:prstGeom prst="roundRect">
            <a:avLst>
              <a:gd name="adj" fmla="val 21818"/>
            </a:avLst>
          </a:prstGeom>
          <a:solidFill>
            <a:srgbClr val="94A3B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571160" y="1513332"/>
            <a:ext cx="274005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7" name="Text 135"/>
          <p:cNvSpPr/>
          <p:nvPr/>
        </p:nvSpPr>
        <p:spPr>
          <a:xfrm>
            <a:off x="365760" y="16847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Wind resource measurement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4845165" y="1730502"/>
            <a:ext cx="2648715" cy="125730"/>
          </a:xfrm>
          <a:prstGeom prst="roundRect">
            <a:avLst>
              <a:gd name="adj" fmla="val 21818"/>
            </a:avLst>
          </a:prstGeom>
          <a:solidFill>
            <a:srgbClr val="64748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4845165" y="1730502"/>
            <a:ext cx="2648715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0" name="Text 138"/>
          <p:cNvSpPr/>
          <p:nvPr/>
        </p:nvSpPr>
        <p:spPr>
          <a:xfrm>
            <a:off x="365760" y="190195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Resource confirmed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7411585" y="194652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42" name="Text 140"/>
          <p:cNvSpPr/>
          <p:nvPr/>
        </p:nvSpPr>
        <p:spPr>
          <a:xfrm>
            <a:off x="365760" y="211912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Environmental &amp; permitting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5210505" y="2200275"/>
            <a:ext cx="292272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4" name="Text 142"/>
          <p:cNvSpPr/>
          <p:nvPr/>
        </p:nvSpPr>
        <p:spPr>
          <a:xfrm>
            <a:off x="365760" y="233629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Environmental impact assessment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5210505" y="2382012"/>
            <a:ext cx="1644030" cy="12573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/>
        </p:spPr>
      </p:sp>
      <p:sp>
        <p:nvSpPr>
          <p:cNvPr id="146" name="Shape 144"/>
          <p:cNvSpPr/>
          <p:nvPr/>
        </p:nvSpPr>
        <p:spPr>
          <a:xfrm>
            <a:off x="5210505" y="2382012"/>
            <a:ext cx="1644030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7" name="Text 145"/>
          <p:cNvSpPr/>
          <p:nvPr/>
        </p:nvSpPr>
        <p:spPr>
          <a:xfrm>
            <a:off x="365760" y="255346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Noise &amp; avian surveys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5667180" y="2599182"/>
            <a:ext cx="1370025" cy="125730"/>
          </a:xfrm>
          <a:prstGeom prst="roundRect">
            <a:avLst>
              <a:gd name="adj" fmla="val 21818"/>
            </a:avLst>
          </a:prstGeom>
          <a:solidFill>
            <a:srgbClr val="3B82F6"/>
          </a:solidFill>
          <a:ln/>
        </p:spPr>
      </p:sp>
      <p:sp>
        <p:nvSpPr>
          <p:cNvPr id="149" name="Shape 147"/>
          <p:cNvSpPr/>
          <p:nvPr/>
        </p:nvSpPr>
        <p:spPr>
          <a:xfrm>
            <a:off x="5667180" y="2599182"/>
            <a:ext cx="1233023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50" name="Text 148"/>
          <p:cNvSpPr/>
          <p:nvPr/>
        </p:nvSpPr>
        <p:spPr>
          <a:xfrm>
            <a:off x="365760" y="277063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Planning consent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8050930" y="281520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52" name="Text 150"/>
          <p:cNvSpPr/>
          <p:nvPr/>
        </p:nvSpPr>
        <p:spPr>
          <a:xfrm>
            <a:off x="365760" y="298780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Grid connection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5484510" y="3068955"/>
            <a:ext cx="347073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4" name="Text 152"/>
          <p:cNvSpPr/>
          <p:nvPr/>
        </p:nvSpPr>
        <p:spPr>
          <a:xfrm>
            <a:off x="365760" y="32049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Connection application &amp; study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5484510" y="3250692"/>
            <a:ext cx="2009370" cy="125730"/>
          </a:xfrm>
          <a:prstGeom prst="roundRect">
            <a:avLst>
              <a:gd name="adj" fmla="val 21818"/>
            </a:avLst>
          </a:prstGeom>
          <a:solidFill>
            <a:srgbClr val="A855F7"/>
          </a:solidFill>
          <a:ln/>
        </p:spPr>
      </p:sp>
      <p:sp>
        <p:nvSpPr>
          <p:cNvPr id="156" name="Shape 154"/>
          <p:cNvSpPr/>
          <p:nvPr/>
        </p:nvSpPr>
        <p:spPr>
          <a:xfrm>
            <a:off x="5484510" y="3250692"/>
            <a:ext cx="1607496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57" name="Text 155"/>
          <p:cNvSpPr/>
          <p:nvPr/>
        </p:nvSpPr>
        <p:spPr>
          <a:xfrm>
            <a:off x="365760" y="34221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Connection agreement &amp; substation design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7493881" y="3467862"/>
            <a:ext cx="1461360" cy="125730"/>
          </a:xfrm>
          <a:prstGeom prst="roundRect">
            <a:avLst>
              <a:gd name="adj" fmla="val 21818"/>
            </a:avLst>
          </a:prstGeom>
          <a:solidFill>
            <a:srgbClr val="C084FC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493881" y="3467862"/>
            <a:ext cx="438408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0" name="Text 158"/>
          <p:cNvSpPr/>
          <p:nvPr/>
        </p:nvSpPr>
        <p:spPr>
          <a:xfrm>
            <a:off x="365760" y="36393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Procurement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8133226" y="3720465"/>
            <a:ext cx="182670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2" name="Text 160"/>
          <p:cNvSpPr/>
          <p:nvPr/>
        </p:nvSpPr>
        <p:spPr>
          <a:xfrm>
            <a:off x="365760" y="38564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Turbine supply agreement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8133226" y="3902202"/>
            <a:ext cx="822015" cy="12573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133226" y="3902202"/>
            <a:ext cx="328806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5" name="Text 163"/>
          <p:cNvSpPr/>
          <p:nvPr/>
        </p:nvSpPr>
        <p:spPr>
          <a:xfrm>
            <a:off x="365760" y="407365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Balance of plant &amp; cable orders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8589901" y="4119372"/>
            <a:ext cx="1370025" cy="125730"/>
          </a:xfrm>
          <a:prstGeom prst="roundRect">
            <a:avLst>
              <a:gd name="adj" fmla="val 21818"/>
            </a:avLst>
          </a:prstGeom>
          <a:solidFill>
            <a:srgbClr val="14B8A6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589901" y="4119372"/>
            <a:ext cx="137003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8" name="Text 166"/>
          <p:cNvSpPr/>
          <p:nvPr/>
        </p:nvSpPr>
        <p:spPr>
          <a:xfrm>
            <a:off x="365760" y="429082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Civil works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9320581" y="4371975"/>
            <a:ext cx="137002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0" name="Text 168"/>
          <p:cNvSpPr/>
          <p:nvPr/>
        </p:nvSpPr>
        <p:spPr>
          <a:xfrm>
            <a:off x="365760" y="450799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Access roads &amp; crane pads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9320581" y="4553712"/>
            <a:ext cx="548010" cy="12573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</p:spPr>
      </p:sp>
      <p:sp>
        <p:nvSpPr>
          <p:cNvPr id="172" name="Text 170"/>
          <p:cNvSpPr/>
          <p:nvPr/>
        </p:nvSpPr>
        <p:spPr>
          <a:xfrm>
            <a:off x="365760" y="472516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Foundations &amp; cure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9685921" y="4770882"/>
            <a:ext cx="822015" cy="125730"/>
          </a:xfrm>
          <a:prstGeom prst="roundRect">
            <a:avLst>
              <a:gd name="adj" fmla="val 21818"/>
            </a:avLst>
          </a:prstGeom>
          <a:solidFill>
            <a:srgbClr val="FBBF24"/>
          </a:solidFill>
          <a:ln/>
        </p:spPr>
      </p:sp>
      <p:sp>
        <p:nvSpPr>
          <p:cNvPr id="174" name="Text 172"/>
          <p:cNvSpPr/>
          <p:nvPr/>
        </p:nvSpPr>
        <p:spPr>
          <a:xfrm>
            <a:off x="365760" y="494233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Cable trenching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9868591" y="4988052"/>
            <a:ext cx="639345" cy="12573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</p:spPr>
      </p:sp>
      <p:sp>
        <p:nvSpPr>
          <p:cNvPr id="176" name="Text 174"/>
          <p:cNvSpPr/>
          <p:nvPr/>
        </p:nvSpPr>
        <p:spPr>
          <a:xfrm>
            <a:off x="365760" y="515950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Erection &amp; commissioning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10599271" y="5240655"/>
            <a:ext cx="118735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8" name="Text 176"/>
          <p:cNvSpPr/>
          <p:nvPr/>
        </p:nvSpPr>
        <p:spPr>
          <a:xfrm>
            <a:off x="365760" y="53766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Crane mobilization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10599271" y="5422392"/>
            <a:ext cx="182670" cy="125730"/>
          </a:xfrm>
          <a:prstGeom prst="roundRect">
            <a:avLst>
              <a:gd name="adj" fmla="val 21818"/>
            </a:avLst>
          </a:prstGeom>
          <a:solidFill>
            <a:srgbClr val="0891B2"/>
          </a:solidFill>
          <a:ln/>
        </p:spPr>
      </p:sp>
      <p:sp>
        <p:nvSpPr>
          <p:cNvPr id="180" name="Text 178"/>
          <p:cNvSpPr/>
          <p:nvPr/>
        </p:nvSpPr>
        <p:spPr>
          <a:xfrm>
            <a:off x="365760" y="55938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Tower, nacelle &amp; blade lifts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10763674" y="5639562"/>
            <a:ext cx="593678" cy="125730"/>
          </a:xfrm>
          <a:prstGeom prst="roundRect">
            <a:avLst>
              <a:gd name="adj" fmla="val 21818"/>
            </a:avLst>
          </a:prstGeom>
          <a:solidFill>
            <a:srgbClr val="06B6D4"/>
          </a:solidFill>
          <a:ln/>
        </p:spPr>
      </p:sp>
      <p:sp>
        <p:nvSpPr>
          <p:cNvPr id="182" name="Text 180"/>
          <p:cNvSpPr/>
          <p:nvPr/>
        </p:nvSpPr>
        <p:spPr>
          <a:xfrm>
            <a:off x="365760" y="58110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Electrical termination &amp; testing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11284284" y="5856732"/>
            <a:ext cx="365340" cy="125730"/>
          </a:xfrm>
          <a:prstGeom prst="roundRect">
            <a:avLst>
              <a:gd name="adj" fmla="val 21818"/>
            </a:avLst>
          </a:prstGeom>
          <a:solidFill>
            <a:srgbClr val="0891B2"/>
          </a:solidFill>
          <a:ln/>
        </p:spPr>
      </p:sp>
      <p:sp>
        <p:nvSpPr>
          <p:cNvPr id="184" name="Text 182"/>
          <p:cNvSpPr/>
          <p:nvPr/>
        </p:nvSpPr>
        <p:spPr>
          <a:xfrm>
            <a:off x="365760" y="60281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First power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11704330" y="607275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86" name="Text 184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assessment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resource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selection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land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agreements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LiDAR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install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Wind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resource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measurement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Resource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confirmed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Environmental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Environmental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impact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assessment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Consultant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2027-06-27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Noise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avian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surveys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Consultant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consent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Grid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connection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2028-02-12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Connection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application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Connection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agreement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substation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2028-02-12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2028-06-01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Turbine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supply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agreement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2028-02-12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Balance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cable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orders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2028-01-04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2028-06-01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Civil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2028-08-20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Access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roads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crane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Civil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Foundations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Civil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2028-07-31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Cable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trenching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2028-07-31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commissioning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2028-12-18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Crane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mobilization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2028-08-30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Tower,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nacelle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blade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lifts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2028-08-29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2028-11-01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termination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Commissioning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2028-10-25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2028-12-03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power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2028-12-19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2028-12-19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2026-07-18T08:31:45Z</dcterms:created>
  <dcterms:modified xsi:type="dcterms:W3CDTF">2026-07-18T08:31:45Z</dcterms:modified>
</cp:coreProperties>
</file>