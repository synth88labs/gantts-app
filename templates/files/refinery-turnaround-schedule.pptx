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453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Refinery Turnaround Schedule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Refinery Turnaround Schedule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38912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233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93776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48640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603504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58368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713232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768096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822960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877824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7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932688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987552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097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4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042416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18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097280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0704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1152144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15568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15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65760" y="1033272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Long-range planning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840480" y="1110082"/>
            <a:ext cx="2351314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1241755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Business case &amp; objectives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840480" y="1287475"/>
            <a:ext cx="783771" cy="117043"/>
          </a:xfrm>
          <a:prstGeom prst="roundRect">
            <a:avLst>
              <a:gd name="adj" fmla="val 23438"/>
            </a:avLst>
          </a:prstGeom>
          <a:solidFill>
            <a:srgbClr val="64748B"/>
          </a:solidFill>
          <a:ln/>
        </p:spPr>
      </p:sp>
      <p:sp>
        <p:nvSpPr>
          <p:cNvPr id="37" name="Shape 35"/>
          <p:cNvSpPr/>
          <p:nvPr/>
        </p:nvSpPr>
        <p:spPr>
          <a:xfrm>
            <a:off x="3840480" y="1287475"/>
            <a:ext cx="783771" cy="11704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1450238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Preliminary budget &amp; window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545874" y="1495958"/>
            <a:ext cx="862149" cy="117043"/>
          </a:xfrm>
          <a:prstGeom prst="roundRect">
            <a:avLst>
              <a:gd name="adj" fmla="val 23438"/>
            </a:avLst>
          </a:prstGeom>
          <a:solidFill>
            <a:srgbClr val="64748B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5874" y="1495958"/>
            <a:ext cx="862149" cy="11704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1658722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Turnaround sanctioned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09498" y="1698955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" y="1867205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Scope development &amp; freeze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191794" y="1944014"/>
            <a:ext cx="1959429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2075688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Worklist collection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191794" y="2121408"/>
            <a:ext cx="979714" cy="117043"/>
          </a:xfrm>
          <a:prstGeom prst="roundRect">
            <a:avLst>
              <a:gd name="adj" fmla="val 23438"/>
            </a:avLst>
          </a:prstGeom>
          <a:solidFill>
            <a:srgbClr val="B45309"/>
          </a:solidFill>
          <a:ln/>
        </p:spPr>
      </p:sp>
      <p:sp>
        <p:nvSpPr>
          <p:cNvPr id="47" name="Shape 45"/>
          <p:cNvSpPr/>
          <p:nvPr/>
        </p:nvSpPr>
        <p:spPr>
          <a:xfrm>
            <a:off x="6191794" y="2121408"/>
            <a:ext cx="979714" cy="11704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365760" y="2284171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Challenge &amp; risk ranking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053943" y="2329891"/>
            <a:ext cx="705394" cy="117043"/>
          </a:xfrm>
          <a:prstGeom prst="roundRect">
            <a:avLst>
              <a:gd name="adj" fmla="val 23438"/>
            </a:avLst>
          </a:prstGeom>
          <a:solidFill>
            <a:srgbClr val="D97706"/>
          </a:solidFill>
          <a:ln/>
        </p:spPr>
      </p:sp>
      <p:sp>
        <p:nvSpPr>
          <p:cNvPr id="50" name="Shape 48"/>
          <p:cNvSpPr/>
          <p:nvPr/>
        </p:nvSpPr>
        <p:spPr>
          <a:xfrm>
            <a:off x="7053943" y="2329891"/>
            <a:ext cx="423237" cy="11704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365760" y="2492654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Scope frozen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068927" y="2532888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2701138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Work package development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759337" y="2777947"/>
            <a:ext cx="176348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5" name="Text 53"/>
          <p:cNvSpPr/>
          <p:nvPr/>
        </p:nvSpPr>
        <p:spPr>
          <a:xfrm>
            <a:off x="365760" y="2909621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Job plans &amp; isolation strategy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337" y="2955341"/>
            <a:ext cx="1097280" cy="117043"/>
          </a:xfrm>
          <a:prstGeom prst="roundRect">
            <a:avLst>
              <a:gd name="adj" fmla="val 23438"/>
            </a:avLst>
          </a:prstGeom>
          <a:solidFill>
            <a:srgbClr val="2563EB"/>
          </a:solidFill>
          <a:ln/>
        </p:spPr>
      </p:sp>
      <p:sp>
        <p:nvSpPr>
          <p:cNvPr id="57" name="Shape 55"/>
          <p:cNvSpPr/>
          <p:nvPr/>
        </p:nvSpPr>
        <p:spPr>
          <a:xfrm>
            <a:off x="7759337" y="2955341"/>
            <a:ext cx="438912" cy="11704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365760" y="3118104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Contractor scoping &amp; award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464731" y="3163824"/>
            <a:ext cx="1058091" cy="117043"/>
          </a:xfrm>
          <a:prstGeom prst="roundRect">
            <a:avLst>
              <a:gd name="adj" fmla="val 23438"/>
            </a:avLst>
          </a:prstGeom>
          <a:solidFill>
            <a:srgbClr val="3B82F6"/>
          </a:solidFill>
          <a:ln/>
        </p:spPr>
      </p:sp>
      <p:sp>
        <p:nvSpPr>
          <p:cNvPr id="60" name="Shape 58"/>
          <p:cNvSpPr/>
          <p:nvPr/>
        </p:nvSpPr>
        <p:spPr>
          <a:xfrm>
            <a:off x="8464731" y="3163824"/>
            <a:ext cx="211618" cy="11704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365760" y="3326587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Procurement &amp; long-lead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563394" y="3403397"/>
            <a:ext cx="27432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3" name="Text 61"/>
          <p:cNvSpPr/>
          <p:nvPr/>
        </p:nvSpPr>
        <p:spPr>
          <a:xfrm>
            <a:off x="365760" y="3535070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Long-lead equipment order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563394" y="3580790"/>
            <a:ext cx="2155371" cy="117043"/>
          </a:xfrm>
          <a:prstGeom prst="roundRect">
            <a:avLst>
              <a:gd name="adj" fmla="val 23438"/>
            </a:avLst>
          </a:prstGeom>
          <a:solidFill>
            <a:srgbClr val="A855F7"/>
          </a:solidFill>
          <a:ln/>
        </p:spPr>
      </p:sp>
      <p:sp>
        <p:nvSpPr>
          <p:cNvPr id="65" name="Shape 63"/>
          <p:cNvSpPr/>
          <p:nvPr/>
        </p:nvSpPr>
        <p:spPr>
          <a:xfrm>
            <a:off x="7563394" y="3580790"/>
            <a:ext cx="862149" cy="11704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365760" y="3743554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Scaffolding &amp; site mobilization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9718766" y="3789274"/>
            <a:ext cx="587829" cy="117043"/>
          </a:xfrm>
          <a:prstGeom prst="roundRect">
            <a:avLst>
              <a:gd name="adj" fmla="val 23438"/>
            </a:avLst>
          </a:prstGeom>
          <a:solidFill>
            <a:srgbClr val="C084FC"/>
          </a:solidFill>
          <a:ln/>
        </p:spPr>
      </p:sp>
      <p:sp>
        <p:nvSpPr>
          <p:cNvPr id="68" name="Text 66"/>
          <p:cNvSpPr/>
          <p:nvPr/>
        </p:nvSpPr>
        <p:spPr>
          <a:xfrm>
            <a:off x="365760" y="3952037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Execution window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10306594" y="4028846"/>
            <a:ext cx="94052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70" name="Text 68"/>
          <p:cNvSpPr/>
          <p:nvPr/>
        </p:nvSpPr>
        <p:spPr>
          <a:xfrm>
            <a:off x="365760" y="4160520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Shutdown &amp; cool-down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10306594" y="4206240"/>
            <a:ext cx="117566" cy="117043"/>
          </a:xfrm>
          <a:prstGeom prst="roundRect">
            <a:avLst>
              <a:gd name="adj" fmla="val 23438"/>
            </a:avLst>
          </a:prstGeom>
          <a:solidFill>
            <a:srgbClr val="EA580C"/>
          </a:solidFill>
          <a:ln/>
        </p:spPr>
      </p:sp>
      <p:sp>
        <p:nvSpPr>
          <p:cNvPr id="72" name="Text 70"/>
          <p:cNvSpPr/>
          <p:nvPr/>
        </p:nvSpPr>
        <p:spPr>
          <a:xfrm>
            <a:off x="365760" y="4369003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Isolation &amp; permits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0424160" y="4414723"/>
            <a:ext cx="78377" cy="117043"/>
          </a:xfrm>
          <a:prstGeom prst="roundRect">
            <a:avLst>
              <a:gd name="adj" fmla="val 35000"/>
            </a:avLst>
          </a:prstGeom>
          <a:solidFill>
            <a:srgbClr val="F97316"/>
          </a:solidFill>
          <a:ln/>
        </p:spPr>
      </p:sp>
      <p:sp>
        <p:nvSpPr>
          <p:cNvPr id="74" name="Text 72"/>
          <p:cNvSpPr/>
          <p:nvPr/>
        </p:nvSpPr>
        <p:spPr>
          <a:xfrm>
            <a:off x="365760" y="4577486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Inspection &amp; discovery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10502537" y="4623206"/>
            <a:ext cx="195943" cy="117043"/>
          </a:xfrm>
          <a:prstGeom prst="roundRect">
            <a:avLst>
              <a:gd name="adj" fmla="val 23438"/>
            </a:avLst>
          </a:prstGeom>
          <a:solidFill>
            <a:srgbClr val="F59E0B"/>
          </a:solidFill>
          <a:ln/>
        </p:spPr>
      </p:sp>
      <p:sp>
        <p:nvSpPr>
          <p:cNvPr id="76" name="Text 74"/>
          <p:cNvSpPr/>
          <p:nvPr/>
        </p:nvSpPr>
        <p:spPr>
          <a:xfrm>
            <a:off x="365760" y="4785970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Mechanical repair work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10659291" y="4831690"/>
            <a:ext cx="391886" cy="117043"/>
          </a:xfrm>
          <a:prstGeom prst="roundRect">
            <a:avLst>
              <a:gd name="adj" fmla="val 23438"/>
            </a:avLst>
          </a:prstGeom>
          <a:solidFill>
            <a:srgbClr val="EA580C"/>
          </a:solidFill>
          <a:ln/>
        </p:spPr>
      </p:sp>
      <p:sp>
        <p:nvSpPr>
          <p:cNvPr id="78" name="Text 76"/>
          <p:cNvSpPr/>
          <p:nvPr/>
        </p:nvSpPr>
        <p:spPr>
          <a:xfrm>
            <a:off x="365760" y="4994453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Reassembly &amp; testing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11011989" y="5040173"/>
            <a:ext cx="235131" cy="117043"/>
          </a:xfrm>
          <a:prstGeom prst="roundRect">
            <a:avLst>
              <a:gd name="adj" fmla="val 23438"/>
            </a:avLst>
          </a:prstGeom>
          <a:solidFill>
            <a:srgbClr val="F97316"/>
          </a:solidFill>
          <a:ln/>
        </p:spPr>
      </p:sp>
      <p:sp>
        <p:nvSpPr>
          <p:cNvPr id="80" name="Text 78"/>
          <p:cNvSpPr/>
          <p:nvPr/>
        </p:nvSpPr>
        <p:spPr>
          <a:xfrm>
            <a:off x="365760" y="5202936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Mechanical completion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11164824" y="5243170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82" name="Text 80"/>
          <p:cNvSpPr/>
          <p:nvPr/>
        </p:nvSpPr>
        <p:spPr>
          <a:xfrm>
            <a:off x="365760" y="5411419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Start-up &amp; close-out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11247120" y="5488229"/>
            <a:ext cx="54864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4" name="Text 82"/>
          <p:cNvSpPr/>
          <p:nvPr/>
        </p:nvSpPr>
        <p:spPr>
          <a:xfrm>
            <a:off x="365760" y="5619902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Re-commissioning &amp; start-up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11247120" y="5665622"/>
            <a:ext cx="235131" cy="117043"/>
          </a:xfrm>
          <a:prstGeom prst="roundRect">
            <a:avLst>
              <a:gd name="adj" fmla="val 23438"/>
            </a:avLst>
          </a:prstGeom>
          <a:solidFill>
            <a:srgbClr val="0D9488"/>
          </a:solidFill>
          <a:ln/>
        </p:spPr>
      </p:sp>
      <p:sp>
        <p:nvSpPr>
          <p:cNvPr id="86" name="Text 84"/>
          <p:cNvSpPr/>
          <p:nvPr/>
        </p:nvSpPr>
        <p:spPr>
          <a:xfrm>
            <a:off x="365760" y="5828386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Return to service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11399955" y="5868619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88" name="Text 86"/>
          <p:cNvSpPr/>
          <p:nvPr/>
        </p:nvSpPr>
        <p:spPr>
          <a:xfrm>
            <a:off x="365760" y="6036869"/>
            <a:ext cx="3291840" cy="2084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Demobilization &amp; review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11482251" y="6082589"/>
            <a:ext cx="313509" cy="117043"/>
          </a:xfrm>
          <a:prstGeom prst="roundRect">
            <a:avLst>
              <a:gd name="adj" fmla="val 23438"/>
            </a:avLst>
          </a:prstGeom>
          <a:solidFill>
            <a:srgbClr val="64748B"/>
          </a:solidFill>
          <a:ln/>
        </p:spPr>
      </p:sp>
      <p:sp>
        <p:nvSpPr>
          <p:cNvPr id="90" name="Text 88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Long-range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Business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case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objectives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Manager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Preliminary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budget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window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Turnaround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sanctioned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Scope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development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freeze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Worklist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collection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Operations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Challenge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risk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ranking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Scope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frozen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package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development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Job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isolation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strategy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Contractor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scoping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award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Contracts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Procurement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long-lead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Long-lead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equipment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order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Procurement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Scaffolding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site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mobilization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Contractor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Execution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window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Shutdown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cool-down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Operations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Isolation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permits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Operations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Inspection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discovery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Inspection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Mechanical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repair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Mechanical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Reassembly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testing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Mechanical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Mechanical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completion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5720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Start-up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close-out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Re-commissioning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start-up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Operations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Return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service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Demobilization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2026-07-18T08:12:38Z</dcterms:created>
  <dcterms:modified xsi:type="dcterms:W3CDTF">2026-07-18T08:12:38Z</dcterms:modified>
</cp:coreProperties>
</file>