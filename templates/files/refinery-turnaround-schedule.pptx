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Refinery Turnaround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Refinery Turnaround Schedule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3891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9377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5836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1323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6809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22960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77824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3268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87552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42416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97280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52144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1033272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Long-range planning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1110082"/>
            <a:ext cx="235131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1241755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Business case &amp; objectives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1287475"/>
            <a:ext cx="783771" cy="117043"/>
          </a:xfrm>
          <a:prstGeom prst="roundRect">
            <a:avLst>
              <a:gd name="adj" fmla="val 23438"/>
            </a:avLst>
          </a:prstGeom>
          <a:solidFill>
            <a:srgbClr val="64748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40480" y="1287475"/>
            <a:ext cx="783771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1450238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Preliminary budget &amp; window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45874" y="1495958"/>
            <a:ext cx="862149" cy="117043"/>
          </a:xfrm>
          <a:prstGeom prst="roundRect">
            <a:avLst>
              <a:gd name="adj" fmla="val 23438"/>
            </a:avLst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4545874" y="1495958"/>
            <a:ext cx="862149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1658722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Turnaround sanctioned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09498" y="1698955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1867205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Scope development &amp; freeze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91794" y="1944014"/>
            <a:ext cx="195942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2075688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Worklist collection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91794" y="2121408"/>
            <a:ext cx="979714" cy="117043"/>
          </a:xfrm>
          <a:prstGeom prst="roundRect">
            <a:avLst>
              <a:gd name="adj" fmla="val 23438"/>
            </a:avLst>
          </a:prstGeom>
          <a:solidFill>
            <a:srgbClr val="B45309"/>
          </a:solidFill>
          <a:ln/>
        </p:spPr>
      </p:sp>
      <p:sp>
        <p:nvSpPr>
          <p:cNvPr id="47" name="Shape 45"/>
          <p:cNvSpPr/>
          <p:nvPr/>
        </p:nvSpPr>
        <p:spPr>
          <a:xfrm>
            <a:off x="6191794" y="2121408"/>
            <a:ext cx="979714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2284171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Challenge &amp; risk ranking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53943" y="2329891"/>
            <a:ext cx="705394" cy="117043"/>
          </a:xfrm>
          <a:prstGeom prst="roundRect">
            <a:avLst>
              <a:gd name="adj" fmla="val 23438"/>
            </a:avLst>
          </a:prstGeom>
          <a:solidFill>
            <a:srgbClr val="D97706"/>
          </a:solidFill>
          <a:ln/>
        </p:spPr>
      </p:sp>
      <p:sp>
        <p:nvSpPr>
          <p:cNvPr id="50" name="Shape 48"/>
          <p:cNvSpPr/>
          <p:nvPr/>
        </p:nvSpPr>
        <p:spPr>
          <a:xfrm>
            <a:off x="7053943" y="2329891"/>
            <a:ext cx="423237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2492654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Scope frozen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068927" y="2532888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2701138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Work package development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59337" y="2777947"/>
            <a:ext cx="176348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2909621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Job plans &amp; isolation strategy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59337" y="2955341"/>
            <a:ext cx="1097280" cy="117043"/>
          </a:xfrm>
          <a:prstGeom prst="roundRect">
            <a:avLst>
              <a:gd name="adj" fmla="val 23438"/>
            </a:avLst>
          </a:prstGeom>
          <a:solidFill>
            <a:srgbClr val="2563EB"/>
          </a:solidFill>
          <a:ln/>
        </p:spPr>
      </p:sp>
      <p:sp>
        <p:nvSpPr>
          <p:cNvPr id="57" name="Shape 55"/>
          <p:cNvSpPr/>
          <p:nvPr/>
        </p:nvSpPr>
        <p:spPr>
          <a:xfrm>
            <a:off x="7759337" y="2955341"/>
            <a:ext cx="438912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3118104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Contractor scoping &amp; award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64731" y="3163824"/>
            <a:ext cx="1058091" cy="117043"/>
          </a:xfrm>
          <a:prstGeom prst="roundRect">
            <a:avLst>
              <a:gd name="adj" fmla="val 23438"/>
            </a:avLst>
          </a:prstGeom>
          <a:solidFill>
            <a:srgbClr val="3B82F6"/>
          </a:solidFill>
          <a:ln/>
        </p:spPr>
      </p:sp>
      <p:sp>
        <p:nvSpPr>
          <p:cNvPr id="60" name="Shape 58"/>
          <p:cNvSpPr/>
          <p:nvPr/>
        </p:nvSpPr>
        <p:spPr>
          <a:xfrm>
            <a:off x="8464731" y="3163824"/>
            <a:ext cx="211618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3326587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Procurement &amp; long-lead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563394" y="3403397"/>
            <a:ext cx="27432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3535070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Long-lead equipment order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63394" y="3580790"/>
            <a:ext cx="2155371" cy="117043"/>
          </a:xfrm>
          <a:prstGeom prst="roundRect">
            <a:avLst>
              <a:gd name="adj" fmla="val 23438"/>
            </a:avLst>
          </a:prstGeom>
          <a:solidFill>
            <a:srgbClr val="A855F7"/>
          </a:solidFill>
          <a:ln/>
        </p:spPr>
      </p:sp>
      <p:sp>
        <p:nvSpPr>
          <p:cNvPr id="65" name="Shape 63"/>
          <p:cNvSpPr/>
          <p:nvPr/>
        </p:nvSpPr>
        <p:spPr>
          <a:xfrm>
            <a:off x="7563394" y="3580790"/>
            <a:ext cx="862149" cy="117043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3743554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Scaffolding &amp; site mobilization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718766" y="3789274"/>
            <a:ext cx="587829" cy="117043"/>
          </a:xfrm>
          <a:prstGeom prst="roundRect">
            <a:avLst>
              <a:gd name="adj" fmla="val 23438"/>
            </a:avLst>
          </a:prstGeom>
          <a:solidFill>
            <a:srgbClr val="C084FC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3952037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Execution window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306594" y="4028846"/>
            <a:ext cx="94052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4160520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Shutdown &amp; cool-down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306594" y="4206240"/>
            <a:ext cx="117566" cy="117043"/>
          </a:xfrm>
          <a:prstGeom prst="roundRect">
            <a:avLst>
              <a:gd name="adj" fmla="val 23438"/>
            </a:avLst>
          </a:prstGeom>
          <a:solidFill>
            <a:srgbClr val="EA580C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4369003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Isolation &amp; permits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424160" y="4414723"/>
            <a:ext cx="78377" cy="117043"/>
          </a:xfrm>
          <a:prstGeom prst="roundRect">
            <a:avLst>
              <a:gd name="adj" fmla="val 35000"/>
            </a:avLst>
          </a:prstGeom>
          <a:solidFill>
            <a:srgbClr val="F97316"/>
          </a:solidFill>
          <a:ln/>
        </p:spPr>
      </p:sp>
      <p:sp>
        <p:nvSpPr>
          <p:cNvPr id="74" name="Text 72"/>
          <p:cNvSpPr/>
          <p:nvPr/>
        </p:nvSpPr>
        <p:spPr>
          <a:xfrm>
            <a:off x="365760" y="4577486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Inspection &amp; discovery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0502537" y="4623206"/>
            <a:ext cx="195943" cy="117043"/>
          </a:xfrm>
          <a:prstGeom prst="roundRect">
            <a:avLst>
              <a:gd name="adj" fmla="val 23438"/>
            </a:avLst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365760" y="4785970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Mechanical repair work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659291" y="4831690"/>
            <a:ext cx="391886" cy="117043"/>
          </a:xfrm>
          <a:prstGeom prst="roundRect">
            <a:avLst>
              <a:gd name="adj" fmla="val 23438"/>
            </a:avLst>
          </a:prstGeom>
          <a:solidFill>
            <a:srgbClr val="EA580C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4994453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Reassembly &amp; testing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1011989" y="5040173"/>
            <a:ext cx="235131" cy="117043"/>
          </a:xfrm>
          <a:prstGeom prst="roundRect">
            <a:avLst>
              <a:gd name="adj" fmla="val 23438"/>
            </a:avLst>
          </a:prstGeom>
          <a:solidFill>
            <a:srgbClr val="F97316"/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5202936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Mechanical completion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1164824" y="5243170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365760" y="5411419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Start-up &amp; close-out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1247120" y="5488229"/>
            <a:ext cx="54864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4" name="Text 82"/>
          <p:cNvSpPr/>
          <p:nvPr/>
        </p:nvSpPr>
        <p:spPr>
          <a:xfrm>
            <a:off x="365760" y="5619902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Re-commissioning &amp; start-up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1247120" y="5665622"/>
            <a:ext cx="235131" cy="117043"/>
          </a:xfrm>
          <a:prstGeom prst="roundRect">
            <a:avLst>
              <a:gd name="adj" fmla="val 23438"/>
            </a:avLst>
          </a:prstGeom>
          <a:solidFill>
            <a:srgbClr val="0D9488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5828386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Return to service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1399955" y="5868619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88" name="Text 86"/>
          <p:cNvSpPr/>
          <p:nvPr/>
        </p:nvSpPr>
        <p:spPr>
          <a:xfrm>
            <a:off x="365760" y="6036869"/>
            <a:ext cx="329184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Demobilization &amp; review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1482251" y="6082589"/>
            <a:ext cx="313509" cy="117043"/>
          </a:xfrm>
          <a:prstGeom prst="roundRect">
            <a:avLst>
              <a:gd name="adj" fmla="val 23438"/>
            </a:avLst>
          </a:prstGeom>
          <a:solidFill>
            <a:srgbClr val="64748B"/>
          </a:solidFill>
          <a:ln/>
        </p:spPr>
      </p:sp>
      <p:sp>
        <p:nvSpPr>
          <p:cNvPr id="90" name="Text 8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Long-range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Business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case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objectives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Preliminary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window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Turnaround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sanctioned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freeze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Worklist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collection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Challenge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risk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ranking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frozen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package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Job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isolation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Contractor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award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Contracts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long-lead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Long-lead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order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Procurement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Scaffolding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mobilization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Contractor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Execution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window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Shutdown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cool-down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Isolation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permits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Inspection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discovery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Inspection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repair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Reassembly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Mechanical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Start-up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close-out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Re-commissioning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start-up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Return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Demobilization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