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B9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EV Charging Installation Schedule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EV Charging Installation Schedule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4603315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3755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536615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0039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6128985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6322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689182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260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7654655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8889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841749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5173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26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9180325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1456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9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9943161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7740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23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10705996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34023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7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1468831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10307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21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65760" y="1033272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Site assessment &amp; design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840480" y="1124296"/>
            <a:ext cx="1362205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1270185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Site walk &amp; capacity check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840480" y="1315905"/>
            <a:ext cx="435906" cy="145473"/>
          </a:xfrm>
          <a:prstGeom prst="roundRect">
            <a:avLst>
              <a:gd name="adj" fmla="val 18857"/>
            </a:avLst>
          </a:prstGeom>
          <a:solidFill>
            <a:srgbClr val="64748B"/>
          </a:solidFill>
          <a:ln/>
        </p:spPr>
      </p:sp>
      <p:sp>
        <p:nvSpPr>
          <p:cNvPr id="29" name="Shape 27"/>
          <p:cNvSpPr/>
          <p:nvPr/>
        </p:nvSpPr>
        <p:spPr>
          <a:xfrm>
            <a:off x="3840480" y="1315905"/>
            <a:ext cx="435906" cy="145473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1507097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Load calculation &amp; layout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276386" y="1552817"/>
            <a:ext cx="926300" cy="145473"/>
          </a:xfrm>
          <a:prstGeom prst="roundRect">
            <a:avLst>
              <a:gd name="adj" fmla="val 18857"/>
            </a:avLst>
          </a:prstGeom>
          <a:solidFill>
            <a:srgbClr val="94A3B8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6386" y="1552817"/>
            <a:ext cx="833670" cy="145473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365760" y="1744010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Utility coordination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385362" y="1835035"/>
            <a:ext cx="4086616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" y="1980923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Service application submitted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85362" y="2026643"/>
            <a:ext cx="272441" cy="145473"/>
          </a:xfrm>
          <a:prstGeom prst="roundRect">
            <a:avLst>
              <a:gd name="adj" fmla="val 18857"/>
            </a:avLst>
          </a:prstGeom>
          <a:solidFill>
            <a:srgbClr val="2563EB"/>
          </a:solidFill>
          <a:ln/>
        </p:spPr>
      </p:sp>
      <p:sp>
        <p:nvSpPr>
          <p:cNvPr id="37" name="Shape 35"/>
          <p:cNvSpPr/>
          <p:nvPr/>
        </p:nvSpPr>
        <p:spPr>
          <a:xfrm>
            <a:off x="4385362" y="2026643"/>
            <a:ext cx="272441" cy="145473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365760" y="2217836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Utility load study &amp; design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930244" y="2263556"/>
            <a:ext cx="2451970" cy="145473"/>
          </a:xfrm>
          <a:prstGeom prst="roundRect">
            <a:avLst>
              <a:gd name="adj" fmla="val 18857"/>
            </a:avLst>
          </a:prstGeom>
          <a:solidFill>
            <a:srgbClr val="3B82F6"/>
          </a:solidFill>
          <a:ln/>
        </p:spPr>
      </p:sp>
      <p:sp>
        <p:nvSpPr>
          <p:cNvPr id="40" name="Shape 38"/>
          <p:cNvSpPr/>
          <p:nvPr/>
        </p:nvSpPr>
        <p:spPr>
          <a:xfrm>
            <a:off x="4930244" y="2263556"/>
            <a:ext cx="980788" cy="145473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365760" y="2454748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Service upgrade scheduled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382214" y="2500468"/>
            <a:ext cx="1089764" cy="145473"/>
          </a:xfrm>
          <a:prstGeom prst="roundRect">
            <a:avLst>
              <a:gd name="adj" fmla="val 18857"/>
            </a:avLst>
          </a:prstGeom>
          <a:solidFill>
            <a:srgbClr val="60A5FA"/>
          </a:solidFill>
          <a:ln/>
        </p:spPr>
      </p:sp>
      <p:sp>
        <p:nvSpPr>
          <p:cNvPr id="43" name="Text 41"/>
          <p:cNvSpPr/>
          <p:nvPr/>
        </p:nvSpPr>
        <p:spPr>
          <a:xfrm>
            <a:off x="365760" y="2691661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Utility approval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389683" y="2746109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45" name="Text 43"/>
          <p:cNvSpPr/>
          <p:nvPr/>
        </p:nvSpPr>
        <p:spPr>
          <a:xfrm>
            <a:off x="365760" y="2928574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Permitting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66150" y="3019598"/>
            <a:ext cx="1907088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7" name="Text 45"/>
          <p:cNvSpPr/>
          <p:nvPr/>
        </p:nvSpPr>
        <p:spPr>
          <a:xfrm>
            <a:off x="365760" y="3165487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Electrical &amp; building permits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366150" y="3211207"/>
            <a:ext cx="1634647" cy="145473"/>
          </a:xfrm>
          <a:prstGeom prst="roundRect">
            <a:avLst>
              <a:gd name="adj" fmla="val 18857"/>
            </a:avLst>
          </a:prstGeom>
          <a:solidFill>
            <a:srgbClr val="A855F7"/>
          </a:solidFill>
          <a:ln/>
        </p:spPr>
      </p:sp>
      <p:sp>
        <p:nvSpPr>
          <p:cNvPr id="49" name="Shape 47"/>
          <p:cNvSpPr/>
          <p:nvPr/>
        </p:nvSpPr>
        <p:spPr>
          <a:xfrm>
            <a:off x="5366150" y="3211207"/>
            <a:ext cx="653859" cy="145473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365760" y="3402399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ADA &amp; signage review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292450" y="3448119"/>
            <a:ext cx="980788" cy="145473"/>
          </a:xfrm>
          <a:prstGeom prst="roundRect">
            <a:avLst>
              <a:gd name="adj" fmla="val 18857"/>
            </a:avLst>
          </a:prstGeom>
          <a:solidFill>
            <a:srgbClr val="C084FC"/>
          </a:solidFill>
          <a:ln/>
        </p:spPr>
      </p:sp>
      <p:sp>
        <p:nvSpPr>
          <p:cNvPr id="52" name="Shape 50"/>
          <p:cNvSpPr/>
          <p:nvPr/>
        </p:nvSpPr>
        <p:spPr>
          <a:xfrm>
            <a:off x="6292450" y="3448119"/>
            <a:ext cx="98079" cy="145473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365760" y="3639312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Procurement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747568" y="3730336"/>
            <a:ext cx="2996852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55" name="Text 53"/>
          <p:cNvSpPr/>
          <p:nvPr/>
        </p:nvSpPr>
        <p:spPr>
          <a:xfrm>
            <a:off x="365760" y="3876225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Chargers &amp; switchgear ordered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47568" y="3921945"/>
            <a:ext cx="2724411" cy="145473"/>
          </a:xfrm>
          <a:prstGeom prst="roundRect">
            <a:avLst>
              <a:gd name="adj" fmla="val 18857"/>
            </a:avLst>
          </a:prstGeom>
          <a:solidFill>
            <a:srgbClr val="0D9488"/>
          </a:solidFill>
          <a:ln/>
        </p:spPr>
      </p:sp>
      <p:sp>
        <p:nvSpPr>
          <p:cNvPr id="57" name="Shape 55"/>
          <p:cNvSpPr/>
          <p:nvPr/>
        </p:nvSpPr>
        <p:spPr>
          <a:xfrm>
            <a:off x="5747568" y="3921945"/>
            <a:ext cx="817323" cy="145473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365760" y="4113137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Civil &amp; electrical works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8635443" y="4204162"/>
            <a:ext cx="1907088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0" name="Text 58"/>
          <p:cNvSpPr/>
          <p:nvPr/>
        </p:nvSpPr>
        <p:spPr>
          <a:xfrm>
            <a:off x="365760" y="4350050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Trenching &amp; conduit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8635443" y="4395770"/>
            <a:ext cx="653859" cy="145473"/>
          </a:xfrm>
          <a:prstGeom prst="roundRect">
            <a:avLst>
              <a:gd name="adj" fmla="val 18857"/>
            </a:avLst>
          </a:prstGeom>
          <a:solidFill>
            <a:srgbClr val="10B981"/>
          </a:solidFill>
          <a:ln/>
        </p:spPr>
      </p:sp>
      <p:sp>
        <p:nvSpPr>
          <p:cNvPr id="62" name="Text 60"/>
          <p:cNvSpPr/>
          <p:nvPr/>
        </p:nvSpPr>
        <p:spPr>
          <a:xfrm>
            <a:off x="365760" y="4586963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Concrete pads &amp; bollards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9180325" y="4632683"/>
            <a:ext cx="435906" cy="145473"/>
          </a:xfrm>
          <a:prstGeom prst="roundRect">
            <a:avLst>
              <a:gd name="adj" fmla="val 18857"/>
            </a:avLst>
          </a:prstGeom>
          <a:solidFill>
            <a:srgbClr val="34D399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4823876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Panel work &amp; conductor pull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507255" y="4869596"/>
            <a:ext cx="653859" cy="145473"/>
          </a:xfrm>
          <a:prstGeom prst="roundRect">
            <a:avLst>
              <a:gd name="adj" fmla="val 18857"/>
            </a:avLst>
          </a:prstGeom>
          <a:solidFill>
            <a:srgbClr val="10B981"/>
          </a:solidFill>
          <a:ln/>
        </p:spPr>
      </p:sp>
      <p:sp>
        <p:nvSpPr>
          <p:cNvPr id="66" name="Text 64"/>
          <p:cNvSpPr/>
          <p:nvPr/>
        </p:nvSpPr>
        <p:spPr>
          <a:xfrm>
            <a:off x="365760" y="5060788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Charger mounting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052137" y="5106508"/>
            <a:ext cx="490394" cy="145473"/>
          </a:xfrm>
          <a:prstGeom prst="roundRect">
            <a:avLst>
              <a:gd name="adj" fmla="val 18857"/>
            </a:avLst>
          </a:prstGeom>
          <a:solidFill>
            <a:srgbClr val="34D399"/>
          </a:solidFill>
          <a:ln/>
        </p:spPr>
      </p:sp>
      <p:sp>
        <p:nvSpPr>
          <p:cNvPr id="68" name="Text 66"/>
          <p:cNvSpPr/>
          <p:nvPr/>
        </p:nvSpPr>
        <p:spPr>
          <a:xfrm>
            <a:off x="365760" y="5297701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Commissioning &amp; activation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10542531" y="5388725"/>
            <a:ext cx="1198741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70" name="Text 68"/>
          <p:cNvSpPr/>
          <p:nvPr/>
        </p:nvSpPr>
        <p:spPr>
          <a:xfrm>
            <a:off x="365760" y="5534614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Energization &amp; inspection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10542531" y="5580334"/>
            <a:ext cx="435906" cy="145473"/>
          </a:xfrm>
          <a:prstGeom prst="roundRect">
            <a:avLst>
              <a:gd name="adj" fmla="val 18857"/>
            </a:avLst>
          </a:prstGeom>
          <a:solidFill>
            <a:srgbClr val="EA580C"/>
          </a:solidFill>
          <a:ln/>
        </p:spPr>
      </p:sp>
      <p:sp>
        <p:nvSpPr>
          <p:cNvPr id="72" name="Text 70"/>
          <p:cNvSpPr/>
          <p:nvPr/>
        </p:nvSpPr>
        <p:spPr>
          <a:xfrm>
            <a:off x="365760" y="5771527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Network &amp; payment activation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10978437" y="5817247"/>
            <a:ext cx="490394" cy="145473"/>
          </a:xfrm>
          <a:prstGeom prst="roundRect">
            <a:avLst>
              <a:gd name="adj" fmla="val 18857"/>
            </a:avLst>
          </a:prstGeom>
          <a:solidFill>
            <a:srgbClr val="F97316"/>
          </a:solidFill>
          <a:ln/>
        </p:spPr>
      </p:sp>
      <p:sp>
        <p:nvSpPr>
          <p:cNvPr id="74" name="Text 72"/>
          <p:cNvSpPr/>
          <p:nvPr/>
        </p:nvSpPr>
        <p:spPr>
          <a:xfrm>
            <a:off x="365760" y="6008439"/>
            <a:ext cx="3291840" cy="236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Stations live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11658976" y="6062888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76" name="Text 74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Site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assessment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Site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walk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capacity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check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Engineer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Load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calculation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layout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Engineer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Utility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coordination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Service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application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submitted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Utility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load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Utility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Service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upgrade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scheduled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Utility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Utility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approval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Permitting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Electrical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building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permits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ADA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signage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Procurement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Chargers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switchgear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ordered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Procurement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Civil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electrical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works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Trenching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conduit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Civil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Concrete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pads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bollards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Civil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Panel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work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conductor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pull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Electrical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6.4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Charger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mounting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Electrical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Commissioning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activation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2026-12-24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Energization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inspection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Utility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Network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payment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activation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Ops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2026-12-19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5720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Stations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live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2026-07-18T08:31:44Z</dcterms:created>
  <dcterms:modified xsi:type="dcterms:W3CDTF">2026-07-18T08:31:44Z</dcterms:modified>
</cp:coreProperties>
</file>