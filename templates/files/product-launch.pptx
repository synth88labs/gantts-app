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8B5C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46888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Product Launch Plan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640080" y="356616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</a:rPr>
              <a:t>Free Gantt chart template · gantts.app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11430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93B"/>
                </a:solidFill>
              </a:rPr>
              <a:t>Product Launch Plan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3840480" y="1051560"/>
            <a:ext cx="0" cy="4352544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474720" y="795528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Aug 3</a:t>
            </a:r>
            <a:endParaRPr lang="en-US" sz="700" dirty="0"/>
          </a:p>
        </p:txBody>
      </p:sp>
      <p:sp>
        <p:nvSpPr>
          <p:cNvPr id="5" name="Shape 3"/>
          <p:cNvSpPr/>
          <p:nvPr/>
        </p:nvSpPr>
        <p:spPr>
          <a:xfrm>
            <a:off x="6696222" y="1051560"/>
            <a:ext cx="0" cy="4352544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330462" y="795528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Aug 17</a:t>
            </a:r>
            <a:endParaRPr lang="en-US" sz="700" dirty="0"/>
          </a:p>
        </p:txBody>
      </p:sp>
      <p:sp>
        <p:nvSpPr>
          <p:cNvPr id="7" name="Shape 5"/>
          <p:cNvSpPr/>
          <p:nvPr/>
        </p:nvSpPr>
        <p:spPr>
          <a:xfrm>
            <a:off x="9551963" y="1051560"/>
            <a:ext cx="0" cy="4352544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86203" y="795528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Aug 31</a:t>
            </a:r>
            <a:endParaRPr lang="en-US" sz="700" dirty="0"/>
          </a:p>
        </p:txBody>
      </p:sp>
      <p:sp>
        <p:nvSpPr>
          <p:cNvPr id="9" name="Text 7"/>
          <p:cNvSpPr/>
          <p:nvPr/>
        </p:nvSpPr>
        <p:spPr>
          <a:xfrm>
            <a:off x="365760" y="1033272"/>
            <a:ext cx="32918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E293B"/>
                </a:solidFill>
              </a:rPr>
              <a:t>Strategy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840480" y="1161288"/>
            <a:ext cx="2039815" cy="91440"/>
          </a:xfrm>
          <a:prstGeom prst="rect">
            <a:avLst/>
          </a:prstGeom>
          <a:solidFill>
            <a:srgbClr val="475569"/>
          </a:solidFill>
          <a:ln/>
        </p:spPr>
      </p:sp>
      <p:sp>
        <p:nvSpPr>
          <p:cNvPr id="11" name="Text 9"/>
          <p:cNvSpPr/>
          <p:nvPr/>
        </p:nvSpPr>
        <p:spPr>
          <a:xfrm>
            <a:off x="365760" y="1344168"/>
            <a:ext cx="32918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Market &amp; competitor research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840480" y="1389888"/>
            <a:ext cx="1019908" cy="219456"/>
          </a:xfrm>
          <a:prstGeom prst="roundRect">
            <a:avLst>
              <a:gd name="adj" fmla="val 12500"/>
            </a:avLst>
          </a:prstGeom>
          <a:solidFill>
            <a:srgbClr val="8B5CF6"/>
          </a:solidFill>
          <a:ln/>
        </p:spPr>
      </p:sp>
      <p:sp>
        <p:nvSpPr>
          <p:cNvPr id="13" name="Shape 11"/>
          <p:cNvSpPr/>
          <p:nvPr/>
        </p:nvSpPr>
        <p:spPr>
          <a:xfrm>
            <a:off x="3840480" y="1389888"/>
            <a:ext cx="1019908" cy="219456"/>
          </a:xfrm>
          <a:prstGeom prst="rect">
            <a:avLst/>
          </a:prstGeom>
          <a:solidFill>
            <a:srgbClr val="000000">
              <a:alpha val="22000"/>
            </a:srgbClr>
          </a:solidFill>
          <a:ln/>
        </p:spPr>
      </p:sp>
      <p:sp>
        <p:nvSpPr>
          <p:cNvPr id="14" name="Text 12"/>
          <p:cNvSpPr/>
          <p:nvPr/>
        </p:nvSpPr>
        <p:spPr>
          <a:xfrm>
            <a:off x="365760" y="1655064"/>
            <a:ext cx="32918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Positioning &amp; messaging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860388" y="1700784"/>
            <a:ext cx="1019908" cy="219456"/>
          </a:xfrm>
          <a:prstGeom prst="roundRect">
            <a:avLst>
              <a:gd name="adj" fmla="val 12500"/>
            </a:avLst>
          </a:prstGeom>
          <a:solidFill>
            <a:srgbClr val="8B5CF6"/>
          </a:solidFill>
          <a:ln/>
        </p:spPr>
      </p:sp>
      <p:sp>
        <p:nvSpPr>
          <p:cNvPr id="16" name="Shape 14"/>
          <p:cNvSpPr/>
          <p:nvPr/>
        </p:nvSpPr>
        <p:spPr>
          <a:xfrm>
            <a:off x="4860388" y="1700784"/>
            <a:ext cx="713935" cy="219456"/>
          </a:xfrm>
          <a:prstGeom prst="rect">
            <a:avLst/>
          </a:prstGeom>
          <a:solidFill>
            <a:srgbClr val="000000">
              <a:alpha val="22000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365760" y="1965960"/>
            <a:ext cx="32918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E293B"/>
                </a:solidFill>
              </a:rPr>
              <a:t>Product readiness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5880295" y="2093976"/>
            <a:ext cx="3263705" cy="91440"/>
          </a:xfrm>
          <a:prstGeom prst="rect">
            <a:avLst/>
          </a:prstGeom>
          <a:solidFill>
            <a:srgbClr val="475569"/>
          </a:solidFill>
          <a:ln/>
        </p:spPr>
      </p:sp>
      <p:sp>
        <p:nvSpPr>
          <p:cNvPr id="19" name="Text 17"/>
          <p:cNvSpPr/>
          <p:nvPr/>
        </p:nvSpPr>
        <p:spPr>
          <a:xfrm>
            <a:off x="365760" y="2276856"/>
            <a:ext cx="32918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Finalize product &amp; beta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5880295" y="2322576"/>
            <a:ext cx="2447778" cy="219456"/>
          </a:xfrm>
          <a:prstGeom prst="roundRect">
            <a:avLst>
              <a:gd name="adj" fmla="val 12500"/>
            </a:avLst>
          </a:prstGeom>
          <a:solidFill>
            <a:srgbClr val="2563EB"/>
          </a:solidFill>
          <a:ln/>
        </p:spPr>
      </p:sp>
      <p:sp>
        <p:nvSpPr>
          <p:cNvPr id="21" name="Shape 19"/>
          <p:cNvSpPr/>
          <p:nvPr/>
        </p:nvSpPr>
        <p:spPr>
          <a:xfrm>
            <a:off x="5880295" y="2322576"/>
            <a:ext cx="1101500" cy="219456"/>
          </a:xfrm>
          <a:prstGeom prst="rect">
            <a:avLst/>
          </a:prstGeom>
          <a:solidFill>
            <a:srgbClr val="000000">
              <a:alpha val="22000"/>
            </a:srgbClr>
          </a:solidFill>
          <a:ln/>
        </p:spPr>
      </p:sp>
      <p:sp>
        <p:nvSpPr>
          <p:cNvPr id="22" name="Text 20"/>
          <p:cNvSpPr/>
          <p:nvPr/>
        </p:nvSpPr>
        <p:spPr>
          <a:xfrm>
            <a:off x="365760" y="2587752"/>
            <a:ext cx="32918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Pricing &amp; packaging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6696222" y="2633472"/>
            <a:ext cx="1223889" cy="219456"/>
          </a:xfrm>
          <a:prstGeom prst="roundRect">
            <a:avLst>
              <a:gd name="adj" fmla="val 12500"/>
            </a:avLst>
          </a:prstGeom>
          <a:solidFill>
            <a:srgbClr val="0EA5E9"/>
          </a:solidFill>
          <a:ln/>
        </p:spPr>
      </p:sp>
      <p:sp>
        <p:nvSpPr>
          <p:cNvPr id="24" name="Shape 22"/>
          <p:cNvSpPr/>
          <p:nvPr/>
        </p:nvSpPr>
        <p:spPr>
          <a:xfrm>
            <a:off x="6696222" y="2633472"/>
            <a:ext cx="244778" cy="219456"/>
          </a:xfrm>
          <a:prstGeom prst="rect">
            <a:avLst/>
          </a:prstGeom>
          <a:solidFill>
            <a:srgbClr val="000000">
              <a:alpha val="22000"/>
            </a:srgbClr>
          </a:solidFill>
          <a:ln/>
        </p:spPr>
      </p:sp>
      <p:sp>
        <p:nvSpPr>
          <p:cNvPr id="25" name="Text 23"/>
          <p:cNvSpPr/>
          <p:nvPr/>
        </p:nvSpPr>
        <p:spPr>
          <a:xfrm>
            <a:off x="365760" y="2898648"/>
            <a:ext cx="32918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E293B"/>
                </a:solidFill>
              </a:rPr>
              <a:t>Go-to-market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7104185" y="3026664"/>
            <a:ext cx="2855742" cy="91440"/>
          </a:xfrm>
          <a:prstGeom prst="rect">
            <a:avLst/>
          </a:prstGeom>
          <a:solidFill>
            <a:srgbClr val="475569"/>
          </a:solidFill>
          <a:ln/>
        </p:spPr>
      </p:sp>
      <p:sp>
        <p:nvSpPr>
          <p:cNvPr id="27" name="Text 25"/>
          <p:cNvSpPr/>
          <p:nvPr/>
        </p:nvSpPr>
        <p:spPr>
          <a:xfrm>
            <a:off x="365760" y="3209544"/>
            <a:ext cx="32918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Marketing assets &amp; content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7104185" y="3255264"/>
            <a:ext cx="2039815" cy="219456"/>
          </a:xfrm>
          <a:prstGeom prst="roundRect">
            <a:avLst>
              <a:gd name="adj" fmla="val 12500"/>
            </a:avLst>
          </a:prstGeom>
          <a:solidFill>
            <a:srgbClr val="F59E0B"/>
          </a:solidFill>
          <a:ln/>
        </p:spPr>
      </p:sp>
      <p:sp>
        <p:nvSpPr>
          <p:cNvPr id="29" name="Shape 27"/>
          <p:cNvSpPr/>
          <p:nvPr/>
        </p:nvSpPr>
        <p:spPr>
          <a:xfrm>
            <a:off x="7104185" y="3255264"/>
            <a:ext cx="407963" cy="219456"/>
          </a:xfrm>
          <a:prstGeom prst="rect">
            <a:avLst/>
          </a:prstGeom>
          <a:solidFill>
            <a:srgbClr val="000000">
              <a:alpha val="22000"/>
            </a:srgbClr>
          </a:solidFill>
          <a:ln/>
        </p:spPr>
      </p:sp>
      <p:sp>
        <p:nvSpPr>
          <p:cNvPr id="30" name="Text 28"/>
          <p:cNvSpPr/>
          <p:nvPr/>
        </p:nvSpPr>
        <p:spPr>
          <a:xfrm>
            <a:off x="365760" y="3520440"/>
            <a:ext cx="32918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PR &amp; email campaign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8328074" y="3566160"/>
            <a:ext cx="1631852" cy="219456"/>
          </a:xfrm>
          <a:prstGeom prst="roundRect">
            <a:avLst>
              <a:gd name="adj" fmla="val 12500"/>
            </a:avLst>
          </a:prstGeom>
          <a:solidFill>
            <a:srgbClr val="A855F7"/>
          </a:solidFill>
          <a:ln/>
        </p:spPr>
      </p:sp>
      <p:sp>
        <p:nvSpPr>
          <p:cNvPr id="32" name="Text 30"/>
          <p:cNvSpPr/>
          <p:nvPr/>
        </p:nvSpPr>
        <p:spPr>
          <a:xfrm>
            <a:off x="365760" y="3831336"/>
            <a:ext cx="32918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Sales enablement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8328074" y="3877056"/>
            <a:ext cx="1223889" cy="219456"/>
          </a:xfrm>
          <a:prstGeom prst="roundRect">
            <a:avLst>
              <a:gd name="adj" fmla="val 12500"/>
            </a:avLst>
          </a:prstGeom>
          <a:solidFill>
            <a:srgbClr val="EC4899"/>
          </a:solidFill>
          <a:ln/>
        </p:spPr>
      </p:sp>
      <p:sp>
        <p:nvSpPr>
          <p:cNvPr id="34" name="Text 32"/>
          <p:cNvSpPr/>
          <p:nvPr/>
        </p:nvSpPr>
        <p:spPr>
          <a:xfrm>
            <a:off x="365760" y="4142232"/>
            <a:ext cx="32918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E293B"/>
                </a:solidFill>
              </a:rPr>
              <a:t>Launch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9959926" y="4270248"/>
            <a:ext cx="1223889" cy="91440"/>
          </a:xfrm>
          <a:prstGeom prst="rect">
            <a:avLst/>
          </a:prstGeom>
          <a:solidFill>
            <a:srgbClr val="475569"/>
          </a:solidFill>
          <a:ln/>
        </p:spPr>
      </p:sp>
      <p:sp>
        <p:nvSpPr>
          <p:cNvPr id="36" name="Text 34"/>
          <p:cNvSpPr/>
          <p:nvPr/>
        </p:nvSpPr>
        <p:spPr>
          <a:xfrm>
            <a:off x="365760" y="4453128"/>
            <a:ext cx="32918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Pre-launch checklist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9959926" y="4498848"/>
            <a:ext cx="611945" cy="219456"/>
          </a:xfrm>
          <a:prstGeom prst="roundRect">
            <a:avLst>
              <a:gd name="adj" fmla="val 12500"/>
            </a:avLst>
          </a:prstGeom>
          <a:solidFill>
            <a:srgbClr val="10B981"/>
          </a:solidFill>
          <a:ln/>
        </p:spPr>
      </p:sp>
      <p:sp>
        <p:nvSpPr>
          <p:cNvPr id="38" name="Text 36"/>
          <p:cNvSpPr/>
          <p:nvPr/>
        </p:nvSpPr>
        <p:spPr>
          <a:xfrm>
            <a:off x="365760" y="4764024"/>
            <a:ext cx="32918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1E293B"/>
                </a:solidFill>
              </a:rPr>
              <a:t>◆ Launch day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10489575" y="4855464"/>
            <a:ext cx="164592" cy="164592"/>
          </a:xfrm>
          <a:prstGeom prst="diamond">
            <a:avLst/>
          </a:prstGeom>
          <a:solidFill>
            <a:srgbClr val="EF4444"/>
          </a:solidFill>
          <a:ln/>
        </p:spPr>
      </p:sp>
      <p:sp>
        <p:nvSpPr>
          <p:cNvPr id="40" name="Text 38"/>
          <p:cNvSpPr/>
          <p:nvPr/>
        </p:nvSpPr>
        <p:spPr>
          <a:xfrm>
            <a:off x="365760" y="5074920"/>
            <a:ext cx="32918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Post-launch review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10775852" y="5120640"/>
            <a:ext cx="1019908" cy="219456"/>
          </a:xfrm>
          <a:prstGeom prst="roundRect">
            <a:avLst>
              <a:gd name="adj" fmla="val 12500"/>
            </a:avLst>
          </a:prstGeom>
          <a:solidFill>
            <a:srgbClr val="64748B"/>
          </a:solidFill>
          <a:ln/>
        </p:spPr>
      </p:sp>
      <p:sp>
        <p:nvSpPr>
          <p:cNvPr id="42" name="Text 40"/>
          <p:cNvSpPr/>
          <p:nvPr/>
        </p:nvSpPr>
        <p:spPr>
          <a:xfrm>
            <a:off x="36576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4A3B8"/>
                </a:solidFill>
              </a:rPr>
              <a:t>Made free at gantts.app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93B"/>
                </a:solidFill>
              </a:rPr>
              <a:t>Task Schedule</a:t>
            </a:r>
            <a:endParaRPr lang="en-US" sz="22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822960"/>
          <a:ext cx="11430000" cy="914400"/>
        </p:xfrm>
        <a:graphic>
          <a:graphicData uri="http://schemas.openxmlformats.org/drawingml/2006/table">
            <a:tbl>
              <a:tblPr/>
              <a:tblGrid>
                <a:gridCol w="1632857"/>
                <a:gridCol w="1632857"/>
                <a:gridCol w="1632857"/>
                <a:gridCol w="1632857"/>
                <a:gridCol w="1632857"/>
                <a:gridCol w="1632857"/>
                <a:gridCol w="1632857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#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5C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Task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5C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Owner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5C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Start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5C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End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5C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Days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5C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%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5C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1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Strategy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2026-08-02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2026-08-11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10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100%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1.1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Market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&amp;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competitor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research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PMM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2026-08-02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2026-08-06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5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100%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1.2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Positioning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&amp;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messaging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PMM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2026-08-07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2026-08-11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5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70%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Product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readiness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2026-08-12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2026-08-27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16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40%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2.1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Finalize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product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&amp;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beta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Product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2026-08-12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2026-08-23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12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45%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2.2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Pricing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&amp;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packaging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PMM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2026-08-16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2026-08-21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6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20%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3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Go-to-market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2026-08-18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2026-08-31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14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15%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3.1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Marketing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assets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&amp;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content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Marketing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2026-08-18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2026-08-27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10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20%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3.2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PR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&amp;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email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campaign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Comms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2026-08-24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2026-08-31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8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0%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3.3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Sales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enablement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Sales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2026-08-24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2026-08-29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6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0%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4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Launch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2026-09-01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2026-09-06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6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0%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4.1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Pre-launch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checklist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PMM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2026-09-01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2026-09-03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3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0%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4.2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Launch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day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2026-09-04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2026-09-04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—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—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4.3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Post-launch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review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Team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2026-09-05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2026-09-09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5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0%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2026-07-17T01:56:21Z</dcterms:created>
  <dcterms:modified xsi:type="dcterms:W3CDTF">2026-07-17T01:56:21Z</dcterms:modified>
</cp:coreProperties>
</file>