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Shipbuilding Project Schedule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Shipbuilding Project Schedule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98493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91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12938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362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27384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0808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41829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253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6274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698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70720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144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85165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589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99611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035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1405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48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28501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25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42947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6371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57392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0816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7183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526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86283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970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00728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4152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15174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8598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29619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3043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44064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7488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58510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934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72955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379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10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87401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0825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0184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527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16291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9715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21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30737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161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45182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8606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19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5962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305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74073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749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788518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1942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02964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6388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13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817409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083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31854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5278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46300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9724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60745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4169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8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75191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8615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22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88963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306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6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904081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7505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918527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1951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3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932972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96396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17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94741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1084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31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961863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528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14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976308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39732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28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990754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54178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13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005199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6862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27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1019644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83068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10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1034090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97514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24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1048535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11959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8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1062981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26405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22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1077426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4085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5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1091871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55295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19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106317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69741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1120762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084186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17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113520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9863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31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1149653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11307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14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1164098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127522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28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1178544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141968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11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365760" y="10332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Design &amp; approval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840480" y="1114425"/>
            <a:ext cx="15477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7" name="Text 115"/>
          <p:cNvSpPr/>
          <p:nvPr/>
        </p:nvSpPr>
        <p:spPr>
          <a:xfrm>
            <a:off x="365760" y="12504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Basic &amp; detail design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3840480" y="1296162"/>
            <a:ext cx="1134995" cy="125730"/>
          </a:xfrm>
          <a:prstGeom prst="roundRect">
            <a:avLst>
              <a:gd name="adj" fmla="val 21818"/>
            </a:avLst>
          </a:prstGeom>
          <a:solidFill>
            <a:srgbClr val="64748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3840480" y="1296162"/>
            <a:ext cx="1134995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20" name="Text 118"/>
          <p:cNvSpPr/>
          <p:nvPr/>
        </p:nvSpPr>
        <p:spPr>
          <a:xfrm>
            <a:off x="365760" y="14676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Classification review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4769112" y="1513332"/>
            <a:ext cx="619088" cy="125730"/>
          </a:xfrm>
          <a:prstGeom prst="roundRect">
            <a:avLst>
              <a:gd name="adj" fmla="val 21818"/>
            </a:avLst>
          </a:prstGeom>
          <a:solidFill>
            <a:srgbClr val="94A3B8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769112" y="1513332"/>
            <a:ext cx="557179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23" name="Text 121"/>
          <p:cNvSpPr/>
          <p:nvPr/>
        </p:nvSpPr>
        <p:spPr>
          <a:xfrm>
            <a:off x="365760" y="16847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Class approval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5305904" y="172935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125" name="Text 123"/>
          <p:cNvSpPr/>
          <p:nvPr/>
        </p:nvSpPr>
        <p:spPr>
          <a:xfrm>
            <a:off x="365760" y="190195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Procurement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4459568" y="1983105"/>
            <a:ext cx="268271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27" name="Text 125"/>
          <p:cNvSpPr/>
          <p:nvPr/>
        </p:nvSpPr>
        <p:spPr>
          <a:xfrm>
            <a:off x="365760" y="211912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Main engine &amp; propulsion order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4459568" y="2164842"/>
            <a:ext cx="2063626" cy="125730"/>
          </a:xfrm>
          <a:prstGeom prst="roundRect">
            <a:avLst>
              <a:gd name="adj" fmla="val 21818"/>
            </a:avLst>
          </a:prstGeom>
          <a:solidFill>
            <a:srgbClr val="A855F7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459568" y="2164842"/>
            <a:ext cx="1444539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0" name="Text 128"/>
          <p:cNvSpPr/>
          <p:nvPr/>
        </p:nvSpPr>
        <p:spPr>
          <a:xfrm>
            <a:off x="365760" y="233629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Steel &amp; equipment orders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5078656" y="2382012"/>
            <a:ext cx="1444539" cy="125730"/>
          </a:xfrm>
          <a:prstGeom prst="roundRect">
            <a:avLst>
              <a:gd name="adj" fmla="val 21818"/>
            </a:avLst>
          </a:prstGeom>
          <a:solidFill>
            <a:srgbClr val="C084FC"/>
          </a:solidFill>
          <a:ln/>
        </p:spPr>
      </p:sp>
      <p:sp>
        <p:nvSpPr>
          <p:cNvPr id="132" name="Shape 130"/>
          <p:cNvSpPr/>
          <p:nvPr/>
        </p:nvSpPr>
        <p:spPr>
          <a:xfrm>
            <a:off x="5078656" y="2382012"/>
            <a:ext cx="866723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3" name="Text 131"/>
          <p:cNvSpPr/>
          <p:nvPr/>
        </p:nvSpPr>
        <p:spPr>
          <a:xfrm>
            <a:off x="365760" y="255346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Steel work &amp; blocks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5388200" y="2634615"/>
            <a:ext cx="2269989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5" name="Text 133"/>
          <p:cNvSpPr/>
          <p:nvPr/>
        </p:nvSpPr>
        <p:spPr>
          <a:xfrm>
            <a:off x="365760" y="277063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Steel cutting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5357495" y="2815209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137" name="Text 135"/>
          <p:cNvSpPr/>
          <p:nvPr/>
        </p:nvSpPr>
        <p:spPr>
          <a:xfrm>
            <a:off x="365760" y="298780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Panel &amp; sub-assembly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5439791" y="3033522"/>
            <a:ext cx="1238176" cy="125730"/>
          </a:xfrm>
          <a:prstGeom prst="roundRect">
            <a:avLst>
              <a:gd name="adj" fmla="val 21818"/>
            </a:avLst>
          </a:prstGeom>
          <a:solidFill>
            <a:srgbClr val="1D4ED8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439791" y="3033522"/>
            <a:ext cx="371453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0" name="Text 138"/>
          <p:cNvSpPr/>
          <p:nvPr/>
        </p:nvSpPr>
        <p:spPr>
          <a:xfrm>
            <a:off x="365760" y="32049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Block assembly &amp; pre-outfitting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6110469" y="3250692"/>
            <a:ext cx="1547720" cy="125730"/>
          </a:xfrm>
          <a:prstGeom prst="roundRect">
            <a:avLst>
              <a:gd name="adj" fmla="val 21818"/>
            </a:avLst>
          </a:prstGeom>
          <a:solidFill>
            <a:srgbClr val="3B82F6"/>
          </a:solidFill>
          <a:ln/>
        </p:spPr>
      </p:sp>
      <p:sp>
        <p:nvSpPr>
          <p:cNvPr id="142" name="Shape 140"/>
          <p:cNvSpPr/>
          <p:nvPr/>
        </p:nvSpPr>
        <p:spPr>
          <a:xfrm>
            <a:off x="6110469" y="3250692"/>
            <a:ext cx="154772" cy="12573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3" name="Text 141"/>
          <p:cNvSpPr/>
          <p:nvPr/>
        </p:nvSpPr>
        <p:spPr>
          <a:xfrm>
            <a:off x="365760" y="34221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Keel laying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6337717" y="3466719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145" name="Text 143"/>
          <p:cNvSpPr/>
          <p:nvPr/>
        </p:nvSpPr>
        <p:spPr>
          <a:xfrm>
            <a:off x="365760" y="36393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Erection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7658189" y="3720465"/>
            <a:ext cx="1444539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7" name="Text 145"/>
          <p:cNvSpPr/>
          <p:nvPr/>
        </p:nvSpPr>
        <p:spPr>
          <a:xfrm>
            <a:off x="365760" y="38564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Block erection &amp; hull closure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7658189" y="3902202"/>
            <a:ext cx="1134995" cy="125730"/>
          </a:xfrm>
          <a:prstGeom prst="roundRect">
            <a:avLst>
              <a:gd name="adj" fmla="val 21818"/>
            </a:avLst>
          </a:prstGeom>
          <a:solidFill>
            <a:srgbClr val="0891B2"/>
          </a:solidFill>
          <a:ln/>
        </p:spPr>
      </p:sp>
      <p:sp>
        <p:nvSpPr>
          <p:cNvPr id="149" name="Text 147"/>
          <p:cNvSpPr/>
          <p:nvPr/>
        </p:nvSpPr>
        <p:spPr>
          <a:xfrm>
            <a:off x="365760" y="407365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Welding &amp; alignment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8483640" y="4119372"/>
            <a:ext cx="619088" cy="125730"/>
          </a:xfrm>
          <a:prstGeom prst="roundRect">
            <a:avLst>
              <a:gd name="adj" fmla="val 21818"/>
            </a:avLst>
          </a:prstGeom>
          <a:solidFill>
            <a:srgbClr val="06B6D4"/>
          </a:solidFill>
          <a:ln/>
        </p:spPr>
      </p:sp>
      <p:sp>
        <p:nvSpPr>
          <p:cNvPr id="151" name="Text 149"/>
          <p:cNvSpPr/>
          <p:nvPr/>
        </p:nvSpPr>
        <p:spPr>
          <a:xfrm>
            <a:off x="365760" y="429082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Outfitting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8690002" y="4371975"/>
            <a:ext cx="196044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3" name="Text 151"/>
          <p:cNvSpPr/>
          <p:nvPr/>
        </p:nvSpPr>
        <p:spPr>
          <a:xfrm>
            <a:off x="365760" y="450799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Machinery &amp; piping install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8690002" y="4553712"/>
            <a:ext cx="1238176" cy="125730"/>
          </a:xfrm>
          <a:prstGeom prst="roundRect">
            <a:avLst>
              <a:gd name="adj" fmla="val 21818"/>
            </a:avLst>
          </a:prstGeom>
          <a:solidFill>
            <a:srgbClr val="EA580C"/>
          </a:solidFill>
          <a:ln/>
        </p:spPr>
      </p:sp>
      <p:sp>
        <p:nvSpPr>
          <p:cNvPr id="155" name="Text 153"/>
          <p:cNvSpPr/>
          <p:nvPr/>
        </p:nvSpPr>
        <p:spPr>
          <a:xfrm>
            <a:off x="365760" y="472516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Electrical &amp; accommodation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9412271" y="4770882"/>
            <a:ext cx="1031813" cy="125730"/>
          </a:xfrm>
          <a:prstGeom prst="roundRect">
            <a:avLst>
              <a:gd name="adj" fmla="val 21818"/>
            </a:avLst>
          </a:prstGeom>
          <a:solidFill>
            <a:srgbClr val="F97316"/>
          </a:solidFill>
          <a:ln/>
        </p:spPr>
      </p:sp>
      <p:sp>
        <p:nvSpPr>
          <p:cNvPr id="157" name="Text 155"/>
          <p:cNvSpPr/>
          <p:nvPr/>
        </p:nvSpPr>
        <p:spPr>
          <a:xfrm>
            <a:off x="365760" y="494233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Painting &amp; coatings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10031359" y="4988052"/>
            <a:ext cx="619088" cy="125730"/>
          </a:xfrm>
          <a:prstGeom prst="roundRect">
            <a:avLst>
              <a:gd name="adj" fmla="val 21818"/>
            </a:avLst>
          </a:prstGeom>
          <a:solidFill>
            <a:srgbClr val="FB923C"/>
          </a:solidFill>
          <a:ln/>
        </p:spPr>
      </p:sp>
      <p:sp>
        <p:nvSpPr>
          <p:cNvPr id="159" name="Text 157"/>
          <p:cNvSpPr/>
          <p:nvPr/>
        </p:nvSpPr>
        <p:spPr>
          <a:xfrm>
            <a:off x="365760" y="515950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Launch, trials &amp; delivery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10650447" y="5240655"/>
            <a:ext cx="113499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1" name="Text 159"/>
          <p:cNvSpPr/>
          <p:nvPr/>
        </p:nvSpPr>
        <p:spPr>
          <a:xfrm>
            <a:off x="365760" y="537667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Launch / float-out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10619742" y="5421249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163" name="Text 161"/>
          <p:cNvSpPr/>
          <p:nvPr/>
        </p:nvSpPr>
        <p:spPr>
          <a:xfrm>
            <a:off x="365760" y="559384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Quay-side commissioning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10702038" y="5639562"/>
            <a:ext cx="567497" cy="12573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165" name="Text 163"/>
          <p:cNvSpPr/>
          <p:nvPr/>
        </p:nvSpPr>
        <p:spPr>
          <a:xfrm>
            <a:off x="365760" y="581101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Sea trials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11321126" y="5856732"/>
            <a:ext cx="309544" cy="125730"/>
          </a:xfrm>
          <a:prstGeom prst="roundRect">
            <a:avLst>
              <a:gd name="adj" fmla="val 21818"/>
            </a:avLst>
          </a:prstGeom>
          <a:solidFill>
            <a:srgbClr val="14B8A6"/>
          </a:solidFill>
          <a:ln/>
        </p:spPr>
      </p:sp>
      <p:sp>
        <p:nvSpPr>
          <p:cNvPr id="167" name="Text 165"/>
          <p:cNvSpPr/>
          <p:nvPr/>
        </p:nvSpPr>
        <p:spPr>
          <a:xfrm>
            <a:off x="365760" y="6028182"/>
            <a:ext cx="3291840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Delivery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11703146" y="607275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169" name="Text 167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Basic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detail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Classification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Class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2027-06-17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Main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engine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propulsion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order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Steel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orders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Steel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blocks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Steel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cutting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Panel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sub-assembly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Fabrication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Block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assembly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pre-outfitting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Fabrication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Keel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laying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2027-12-24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Block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hull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closure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2027-11-24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Welding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alignment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2027-10-26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2027-12-24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Outfitting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Machinery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piping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install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Outfitting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accommodation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Outfitting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2028-01-24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Painting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coatings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Outfitting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Launch,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trials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delivery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2028-09-09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Launch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float-out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Quay-side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commissioning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Commissioning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2028-07-21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trials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Trials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2028-07-27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2028-08-25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Delivery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2028-09-10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2028-09-10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2026-07-18T08:31:45Z</dcterms:created>
  <dcterms:modified xsi:type="dcterms:W3CDTF">2026-07-18T08:31:45Z</dcterms:modified>
</cp:coreProperties>
</file>