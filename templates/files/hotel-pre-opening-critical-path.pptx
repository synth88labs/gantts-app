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33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Hotel Pre-Opening Critical Path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Hotel Pre-Opening Critical Path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51140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4564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18233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1657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326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750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652418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5842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719511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2935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786604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0028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853697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121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920789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13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987882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1306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054975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8399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12206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549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5760" y="103327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Project set-up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40480" y="1114425"/>
            <a:ext cx="95846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125044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Critical path &amp; budget approved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40480" y="1296162"/>
            <a:ext cx="575080" cy="125730"/>
          </a:xfrm>
          <a:prstGeom prst="roundRect">
            <a:avLst>
              <a:gd name="adj" fmla="val 21818"/>
            </a:avLst>
          </a:prstGeom>
          <a:solidFill>
            <a:srgbClr val="64748B"/>
          </a:solidFill>
          <a:ln/>
        </p:spPr>
      </p:sp>
      <p:sp>
        <p:nvSpPr>
          <p:cNvPr id="31" name="Shape 29"/>
          <p:cNvSpPr/>
          <p:nvPr/>
        </p:nvSpPr>
        <p:spPr>
          <a:xfrm>
            <a:off x="3840480" y="1296162"/>
            <a:ext cx="575080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146761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Opening date locked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16651" y="151218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168478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Recruitment &amp; HR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98947" y="1765935"/>
            <a:ext cx="479233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190195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Executive committee hired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98947" y="1947672"/>
            <a:ext cx="1437701" cy="125730"/>
          </a:xfrm>
          <a:prstGeom prst="roundRect">
            <a:avLst>
              <a:gd name="adj" fmla="val 21818"/>
            </a:avLst>
          </a:prstGeom>
          <a:solidFill>
            <a:srgbClr val="2563EB"/>
          </a:solidFill>
          <a:ln/>
        </p:spPr>
      </p:sp>
      <p:sp>
        <p:nvSpPr>
          <p:cNvPr id="38" name="Shape 36"/>
          <p:cNvSpPr/>
          <p:nvPr/>
        </p:nvSpPr>
        <p:spPr>
          <a:xfrm>
            <a:off x="4798947" y="1947672"/>
            <a:ext cx="1437701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211912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Department heads hired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36649" y="2164842"/>
            <a:ext cx="1677318" cy="125730"/>
          </a:xfrm>
          <a:prstGeom prst="roundRect">
            <a:avLst>
              <a:gd name="adj" fmla="val 21818"/>
            </a:avLst>
          </a:prstGeom>
          <a:solidFill>
            <a:srgbClr val="3B82F6"/>
          </a:solidFill>
          <a:ln/>
        </p:spPr>
      </p:sp>
      <p:sp>
        <p:nvSpPr>
          <p:cNvPr id="41" name="Shape 39"/>
          <p:cNvSpPr/>
          <p:nvPr/>
        </p:nvSpPr>
        <p:spPr>
          <a:xfrm>
            <a:off x="6236649" y="2164842"/>
            <a:ext cx="838659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233629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Line staff hiring wave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13967" y="2382012"/>
            <a:ext cx="1677318" cy="125730"/>
          </a:xfrm>
          <a:prstGeom prst="roundRect">
            <a:avLst>
              <a:gd name="adj" fmla="val 21818"/>
            </a:avLst>
          </a:prstGeom>
          <a:solidFill>
            <a:srgbClr val="60A5FA"/>
          </a:solidFill>
          <a:ln/>
        </p:spPr>
      </p:sp>
      <p:sp>
        <p:nvSpPr>
          <p:cNvPr id="44" name="Text 42"/>
          <p:cNvSpPr/>
          <p:nvPr/>
        </p:nvSpPr>
        <p:spPr>
          <a:xfrm>
            <a:off x="365760" y="255346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OS&amp;E and FF&amp;E procurement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38564" y="2634615"/>
            <a:ext cx="45527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277063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Specify &amp; order OS&amp;E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38564" y="2816352"/>
            <a:ext cx="2156552" cy="125730"/>
          </a:xfrm>
          <a:prstGeom prst="roundRect">
            <a:avLst>
              <a:gd name="adj" fmla="val 21818"/>
            </a:avLst>
          </a:prstGeom>
          <a:solidFill>
            <a:srgbClr val="A855F7"/>
          </a:solidFill>
          <a:ln/>
        </p:spPr>
      </p:sp>
      <p:sp>
        <p:nvSpPr>
          <p:cNvPr id="48" name="Shape 46"/>
          <p:cNvSpPr/>
          <p:nvPr/>
        </p:nvSpPr>
        <p:spPr>
          <a:xfrm>
            <a:off x="5038564" y="2816352"/>
            <a:ext cx="1509586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298780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Delivery &amp; storeroom set-up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153584" y="3033522"/>
            <a:ext cx="1437701" cy="125730"/>
          </a:xfrm>
          <a:prstGeom prst="roundRect">
            <a:avLst>
              <a:gd name="adj" fmla="val 21818"/>
            </a:avLst>
          </a:prstGeom>
          <a:solidFill>
            <a:srgbClr val="C084FC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320497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Systems &amp; IT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76266" y="3286125"/>
            <a:ext cx="311501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342214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PMS &amp; POS install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476266" y="3467862"/>
            <a:ext cx="1437701" cy="12573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55" name="Shape 53"/>
          <p:cNvSpPr/>
          <p:nvPr/>
        </p:nvSpPr>
        <p:spPr>
          <a:xfrm>
            <a:off x="6476266" y="3467862"/>
            <a:ext cx="431310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365760" y="363931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Connectivity &amp; integration test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153584" y="3685032"/>
            <a:ext cx="1437701" cy="125730"/>
          </a:xfrm>
          <a:prstGeom prst="roundRect">
            <a:avLst>
              <a:gd name="adj" fmla="val 21818"/>
            </a:avLst>
          </a:prstGeom>
          <a:solidFill>
            <a:srgbClr val="14B8A6"/>
          </a:solidFill>
          <a:ln/>
        </p:spPr>
      </p:sp>
      <p:sp>
        <p:nvSpPr>
          <p:cNvPr id="58" name="Text 56"/>
          <p:cNvSpPr/>
          <p:nvPr/>
        </p:nvSpPr>
        <p:spPr>
          <a:xfrm>
            <a:off x="365760" y="385648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Sales &amp; distribution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78181" y="3937635"/>
            <a:ext cx="479233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0" name="Text 58"/>
          <p:cNvSpPr/>
          <p:nvPr/>
        </p:nvSpPr>
        <p:spPr>
          <a:xfrm>
            <a:off x="365760" y="407365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Rates, channels &amp; OTA set-up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78181" y="4119372"/>
            <a:ext cx="2156552" cy="125730"/>
          </a:xfrm>
          <a:prstGeom prst="roundRect">
            <a:avLst>
              <a:gd name="adj" fmla="val 21818"/>
            </a:avLst>
          </a:prstGeom>
          <a:solidFill>
            <a:srgbClr val="EA580C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8181" y="4119372"/>
            <a:ext cx="1078276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429082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Bookings open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352437" y="4335399"/>
            <a:ext cx="164592" cy="164592"/>
          </a:xfrm>
          <a:prstGeom prst="diamond">
            <a:avLst/>
          </a:prstGeom>
          <a:solidFill>
            <a:srgbClr val="F59E0B"/>
          </a:solidFill>
          <a:ln/>
        </p:spPr>
      </p:sp>
      <p:sp>
        <p:nvSpPr>
          <p:cNvPr id="65" name="Text 63"/>
          <p:cNvSpPr/>
          <p:nvPr/>
        </p:nvSpPr>
        <p:spPr>
          <a:xfrm>
            <a:off x="365760" y="450799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Pre-opening sales push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434733" y="4553712"/>
            <a:ext cx="2635786" cy="125730"/>
          </a:xfrm>
          <a:prstGeom prst="roundRect">
            <a:avLst>
              <a:gd name="adj" fmla="val 21818"/>
            </a:avLst>
          </a:prstGeom>
          <a:solidFill>
            <a:srgbClr val="F97316"/>
          </a:solidFill>
          <a:ln/>
        </p:spPr>
      </p:sp>
      <p:sp>
        <p:nvSpPr>
          <p:cNvPr id="67" name="Shape 65"/>
          <p:cNvSpPr/>
          <p:nvPr/>
        </p:nvSpPr>
        <p:spPr>
          <a:xfrm>
            <a:off x="7434733" y="4553712"/>
            <a:ext cx="263579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472516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Licensing &amp; inspections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632817" y="4806315"/>
            <a:ext cx="191693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494233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Fire, health &amp; liquor licences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632817" y="4988052"/>
            <a:ext cx="1198084" cy="125730"/>
          </a:xfrm>
          <a:prstGeom prst="roundRect">
            <a:avLst>
              <a:gd name="adj" fmla="val 21818"/>
            </a:avLst>
          </a:prstGeom>
          <a:solidFill>
            <a:srgbClr val="DC2626"/>
          </a:solidFill>
          <a:ln/>
        </p:spPr>
      </p:sp>
      <p:sp>
        <p:nvSpPr>
          <p:cNvPr id="72" name="Text 70"/>
          <p:cNvSpPr/>
          <p:nvPr/>
        </p:nvSpPr>
        <p:spPr>
          <a:xfrm>
            <a:off x="365760" y="515950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Certificate of occupancy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0467456" y="520407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74" name="Text 72"/>
          <p:cNvSpPr/>
          <p:nvPr/>
        </p:nvSpPr>
        <p:spPr>
          <a:xfrm>
            <a:off x="365760" y="537667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Training &amp; opening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591285" y="5457825"/>
            <a:ext cx="215655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6" name="Text 74"/>
          <p:cNvSpPr/>
          <p:nvPr/>
        </p:nvSpPr>
        <p:spPr>
          <a:xfrm>
            <a:off x="365760" y="559384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Departmental training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9591285" y="5639562"/>
            <a:ext cx="1198084" cy="125730"/>
          </a:xfrm>
          <a:prstGeom prst="roundRect">
            <a:avLst>
              <a:gd name="adj" fmla="val 21818"/>
            </a:avLst>
          </a:prstGeom>
          <a:solidFill>
            <a:srgbClr val="9333EA"/>
          </a:solidFill>
          <a:ln/>
        </p:spPr>
      </p:sp>
      <p:sp>
        <p:nvSpPr>
          <p:cNvPr id="78" name="Text 76"/>
          <p:cNvSpPr/>
          <p:nvPr/>
        </p:nvSpPr>
        <p:spPr>
          <a:xfrm>
            <a:off x="365760" y="581101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Soft opening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11028986" y="5856732"/>
            <a:ext cx="575080" cy="125730"/>
          </a:xfrm>
          <a:prstGeom prst="roundRect">
            <a:avLst>
              <a:gd name="adj" fmla="val 21818"/>
            </a:avLst>
          </a:prstGeom>
          <a:solidFill>
            <a:srgbClr val="A855F7"/>
          </a:solidFill>
          <a:ln/>
        </p:spPr>
      </p:sp>
      <p:sp>
        <p:nvSpPr>
          <p:cNvPr id="80" name="Text 78"/>
          <p:cNvSpPr/>
          <p:nvPr/>
        </p:nvSpPr>
        <p:spPr>
          <a:xfrm>
            <a:off x="365760" y="602818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Hotel open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1665541" y="607275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82" name="Text 8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3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3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3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3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3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3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3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Project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set-up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Critical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path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locked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Recruitment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Executive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committee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hired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Department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heads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hired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Line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staff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hiring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wave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OS&amp;E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FF&amp;E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Specify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order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OS&amp;E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Purchasing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Delivery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storeroom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set-up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Purchasing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Systems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install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Connectivity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integration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Sales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distribution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Rates,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channels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set-up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Commercial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Bookings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Pre-opening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sales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push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Commercial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Licensing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inspections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Fire,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health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liquor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licences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Engineering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Certificate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of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occupancy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Training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5720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Departmental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training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Dept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heads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Soft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Hotel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