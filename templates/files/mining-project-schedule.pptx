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83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Mining Project Schedule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Mining Project Schedule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9146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489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9888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231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0630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73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1372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15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2114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57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2856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199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3598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941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4340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83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0827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4251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8247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1671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5667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091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73087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6511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80507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931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87927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1351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95347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771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02767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191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10187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11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17607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031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25027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451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32447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871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10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9867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3291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24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47287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0711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54707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8131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21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62127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5551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69547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971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19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6967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0391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84387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7811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91807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5231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30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99227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2651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13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06647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0071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14067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7491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21487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4911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28907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2331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8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36327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9751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22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43747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7171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6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51167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4591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58587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2011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3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66007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9431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17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73427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6851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31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680847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4271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14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88267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1691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28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95687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9111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13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03107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6531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27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710527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3951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10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17947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1371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24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725367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88791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8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732787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96211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22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40207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03631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5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747627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11051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19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755047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18471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3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762467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25891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17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769887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33311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31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777307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0731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14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784727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8151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28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792147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55571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11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799567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62991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25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806986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7041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9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814406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7783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23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821826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8525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6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829246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9267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20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836666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0009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4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844086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0751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18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851506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1493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858926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2235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15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866346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2977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29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873766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3719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12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881186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4461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26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88606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52030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12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896026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59450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26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903446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66870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9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10866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74290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23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918286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81710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7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925706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89130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21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933126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96550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4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940546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03970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18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947966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11390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2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955386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18810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16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962806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2623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30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970226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3365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13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977646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4107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27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985066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4849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10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992486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5591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24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999906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6333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8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1007326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970750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22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1014746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78170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5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1022166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5590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19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1029586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993010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3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1037006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000430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17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1044426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007850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31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1051846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015270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14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1059266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1022690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28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1066686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030110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11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1074106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037530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25</a:t>
            </a:r>
            <a:endParaRPr lang="en-US" sz="700" dirty="0"/>
          </a:p>
        </p:txBody>
      </p:sp>
      <p:sp>
        <p:nvSpPr>
          <p:cNvPr id="191" name="Shape 189"/>
          <p:cNvSpPr/>
          <p:nvPr/>
        </p:nvSpPr>
        <p:spPr>
          <a:xfrm>
            <a:off x="1081526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044950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11</a:t>
            </a:r>
            <a:endParaRPr lang="en-US" sz="700" dirty="0"/>
          </a:p>
        </p:txBody>
      </p:sp>
      <p:sp>
        <p:nvSpPr>
          <p:cNvPr id="193" name="Shape 191"/>
          <p:cNvSpPr/>
          <p:nvPr/>
        </p:nvSpPr>
        <p:spPr>
          <a:xfrm>
            <a:off x="1088946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052370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25</a:t>
            </a:r>
            <a:endParaRPr lang="en-US" sz="700" dirty="0"/>
          </a:p>
        </p:txBody>
      </p:sp>
      <p:sp>
        <p:nvSpPr>
          <p:cNvPr id="195" name="Shape 193"/>
          <p:cNvSpPr/>
          <p:nvPr/>
        </p:nvSpPr>
        <p:spPr>
          <a:xfrm>
            <a:off x="1096366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1059790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8</a:t>
            </a:r>
            <a:endParaRPr lang="en-US" sz="700" dirty="0"/>
          </a:p>
        </p:txBody>
      </p:sp>
      <p:sp>
        <p:nvSpPr>
          <p:cNvPr id="197" name="Shape 195"/>
          <p:cNvSpPr/>
          <p:nvPr/>
        </p:nvSpPr>
        <p:spPr>
          <a:xfrm>
            <a:off x="1103786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1067210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22</a:t>
            </a:r>
            <a:endParaRPr lang="en-US" sz="700" dirty="0"/>
          </a:p>
        </p:txBody>
      </p:sp>
      <p:sp>
        <p:nvSpPr>
          <p:cNvPr id="199" name="Shape 197"/>
          <p:cNvSpPr/>
          <p:nvPr/>
        </p:nvSpPr>
        <p:spPr>
          <a:xfrm>
            <a:off x="1111206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1074630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6</a:t>
            </a:r>
            <a:endParaRPr lang="en-US" sz="700" dirty="0"/>
          </a:p>
        </p:txBody>
      </p:sp>
      <p:sp>
        <p:nvSpPr>
          <p:cNvPr id="201" name="Shape 199"/>
          <p:cNvSpPr/>
          <p:nvPr/>
        </p:nvSpPr>
        <p:spPr>
          <a:xfrm>
            <a:off x="1118626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082050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20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1126046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1089470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3</a:t>
            </a:r>
            <a:endParaRPr lang="en-US" sz="700" dirty="0"/>
          </a:p>
        </p:txBody>
      </p:sp>
      <p:sp>
        <p:nvSpPr>
          <p:cNvPr id="205" name="Shape 203"/>
          <p:cNvSpPr/>
          <p:nvPr/>
        </p:nvSpPr>
        <p:spPr>
          <a:xfrm>
            <a:off x="1133466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096890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17</a:t>
            </a:r>
            <a:endParaRPr lang="en-US" sz="700" dirty="0"/>
          </a:p>
        </p:txBody>
      </p:sp>
      <p:sp>
        <p:nvSpPr>
          <p:cNvPr id="207" name="Shape 205"/>
          <p:cNvSpPr/>
          <p:nvPr/>
        </p:nvSpPr>
        <p:spPr>
          <a:xfrm>
            <a:off x="1140886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104310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1148306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1111730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15</a:t>
            </a:r>
            <a:endParaRPr lang="en-US" sz="700" dirty="0"/>
          </a:p>
        </p:txBody>
      </p:sp>
      <p:sp>
        <p:nvSpPr>
          <p:cNvPr id="211" name="Shape 209"/>
          <p:cNvSpPr/>
          <p:nvPr/>
        </p:nvSpPr>
        <p:spPr>
          <a:xfrm>
            <a:off x="1155726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1119150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29</a:t>
            </a:r>
            <a:endParaRPr lang="en-US" sz="700" dirty="0"/>
          </a:p>
        </p:txBody>
      </p:sp>
      <p:sp>
        <p:nvSpPr>
          <p:cNvPr id="213" name="Shape 211"/>
          <p:cNvSpPr/>
          <p:nvPr/>
        </p:nvSpPr>
        <p:spPr>
          <a:xfrm>
            <a:off x="1163146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112657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12</a:t>
            </a:r>
            <a:endParaRPr lang="en-US" sz="700" dirty="0"/>
          </a:p>
        </p:txBody>
      </p:sp>
      <p:sp>
        <p:nvSpPr>
          <p:cNvPr id="215" name="Shape 213"/>
          <p:cNvSpPr/>
          <p:nvPr/>
        </p:nvSpPr>
        <p:spPr>
          <a:xfrm>
            <a:off x="1170566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13399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26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1177986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14141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9</a:t>
            </a:r>
            <a:endParaRPr lang="en-US" sz="700" dirty="0"/>
          </a:p>
        </p:txBody>
      </p:sp>
      <p:sp>
        <p:nvSpPr>
          <p:cNvPr id="219" name="Text 217"/>
          <p:cNvSpPr/>
          <p:nvPr/>
        </p:nvSpPr>
        <p:spPr>
          <a:xfrm>
            <a:off x="365760" y="1033272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Exploration</a:t>
            </a:r>
            <a:endParaRPr lang="en-US" sz="900" dirty="0"/>
          </a:p>
        </p:txBody>
      </p:sp>
      <p:sp>
        <p:nvSpPr>
          <p:cNvPr id="220" name="Shape 218"/>
          <p:cNvSpPr/>
          <p:nvPr/>
        </p:nvSpPr>
        <p:spPr>
          <a:xfrm>
            <a:off x="3840480" y="1119146"/>
            <a:ext cx="1271997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21" name="Text 219"/>
          <p:cNvSpPr/>
          <p:nvPr/>
        </p:nvSpPr>
        <p:spPr>
          <a:xfrm>
            <a:off x="365760" y="1259884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Target generation &amp; geophysics</a:t>
            </a:r>
            <a:endParaRPr lang="en-US" sz="900" dirty="0"/>
          </a:p>
        </p:txBody>
      </p:sp>
      <p:sp>
        <p:nvSpPr>
          <p:cNvPr id="222" name="Shape 220"/>
          <p:cNvSpPr/>
          <p:nvPr/>
        </p:nvSpPr>
        <p:spPr>
          <a:xfrm>
            <a:off x="3840480" y="1305604"/>
            <a:ext cx="476999" cy="135172"/>
          </a:xfrm>
          <a:prstGeom prst="roundRect">
            <a:avLst>
              <a:gd name="adj" fmla="val 20294"/>
            </a:avLst>
          </a:prstGeom>
          <a:solidFill>
            <a:srgbClr val="64748B"/>
          </a:solidFill>
          <a:ln/>
        </p:spPr>
      </p:sp>
      <p:sp>
        <p:nvSpPr>
          <p:cNvPr id="223" name="Shape 221"/>
          <p:cNvSpPr/>
          <p:nvPr/>
        </p:nvSpPr>
        <p:spPr>
          <a:xfrm>
            <a:off x="3840480" y="1305604"/>
            <a:ext cx="476999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24" name="Text 222"/>
          <p:cNvSpPr/>
          <p:nvPr/>
        </p:nvSpPr>
        <p:spPr>
          <a:xfrm>
            <a:off x="365760" y="1486496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First-pass drilling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4317479" y="1532216"/>
            <a:ext cx="794998" cy="135172"/>
          </a:xfrm>
          <a:prstGeom prst="roundRect">
            <a:avLst>
              <a:gd name="adj" fmla="val 20294"/>
            </a:avLst>
          </a:prstGeom>
          <a:solidFill>
            <a:srgbClr val="94A3B8"/>
          </a:solidFill>
          <a:ln/>
        </p:spPr>
      </p:sp>
      <p:sp>
        <p:nvSpPr>
          <p:cNvPr id="226" name="Shape 224"/>
          <p:cNvSpPr/>
          <p:nvPr/>
        </p:nvSpPr>
        <p:spPr>
          <a:xfrm>
            <a:off x="4317479" y="1532216"/>
            <a:ext cx="794998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27" name="Text 225"/>
          <p:cNvSpPr/>
          <p:nvPr/>
        </p:nvSpPr>
        <p:spPr>
          <a:xfrm>
            <a:off x="365760" y="1713109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Discovery confirmed</a:t>
            </a:r>
            <a:endParaRPr lang="en-US" sz="900" dirty="0"/>
          </a:p>
        </p:txBody>
      </p:sp>
      <p:sp>
        <p:nvSpPr>
          <p:cNvPr id="228" name="Shape 226"/>
          <p:cNvSpPr/>
          <p:nvPr/>
        </p:nvSpPr>
        <p:spPr>
          <a:xfrm>
            <a:off x="5030181" y="1762407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229" name="Text 227"/>
          <p:cNvSpPr/>
          <p:nvPr/>
        </p:nvSpPr>
        <p:spPr>
          <a:xfrm>
            <a:off x="365760" y="1939721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Resource definition</a:t>
            </a:r>
            <a:endParaRPr lang="en-US" sz="900" dirty="0"/>
          </a:p>
        </p:txBody>
      </p:sp>
      <p:sp>
        <p:nvSpPr>
          <p:cNvPr id="230" name="Shape 228"/>
          <p:cNvSpPr/>
          <p:nvPr/>
        </p:nvSpPr>
        <p:spPr>
          <a:xfrm>
            <a:off x="5112477" y="2025595"/>
            <a:ext cx="1377997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31" name="Text 229"/>
          <p:cNvSpPr/>
          <p:nvPr/>
        </p:nvSpPr>
        <p:spPr>
          <a:xfrm>
            <a:off x="365760" y="2166333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Infill drilling</a:t>
            </a:r>
            <a:endParaRPr lang="en-US" sz="900" dirty="0"/>
          </a:p>
        </p:txBody>
      </p:sp>
      <p:sp>
        <p:nvSpPr>
          <p:cNvPr id="232" name="Shape 230"/>
          <p:cNvSpPr/>
          <p:nvPr/>
        </p:nvSpPr>
        <p:spPr>
          <a:xfrm>
            <a:off x="5112477" y="2212053"/>
            <a:ext cx="953998" cy="135172"/>
          </a:xfrm>
          <a:prstGeom prst="roundRect">
            <a:avLst>
              <a:gd name="adj" fmla="val 20294"/>
            </a:avLst>
          </a:prstGeom>
          <a:solidFill>
            <a:srgbClr val="78350F"/>
          </a:solidFill>
          <a:ln/>
        </p:spPr>
      </p:sp>
      <p:sp>
        <p:nvSpPr>
          <p:cNvPr id="233" name="Shape 231"/>
          <p:cNvSpPr/>
          <p:nvPr/>
        </p:nvSpPr>
        <p:spPr>
          <a:xfrm>
            <a:off x="5112477" y="2212053"/>
            <a:ext cx="858598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34" name="Text 232"/>
          <p:cNvSpPr/>
          <p:nvPr/>
        </p:nvSpPr>
        <p:spPr>
          <a:xfrm>
            <a:off x="365760" y="2392945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Assay turnaround &amp; modelling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5589476" y="2438665"/>
            <a:ext cx="900998" cy="135172"/>
          </a:xfrm>
          <a:prstGeom prst="roundRect">
            <a:avLst>
              <a:gd name="adj" fmla="val 20294"/>
            </a:avLst>
          </a:prstGeom>
          <a:solidFill>
            <a:srgbClr val="A16207"/>
          </a:solidFill>
          <a:ln/>
        </p:spPr>
      </p:sp>
      <p:sp>
        <p:nvSpPr>
          <p:cNvPr id="236" name="Shape 234"/>
          <p:cNvSpPr/>
          <p:nvPr/>
        </p:nvSpPr>
        <p:spPr>
          <a:xfrm>
            <a:off x="5589476" y="2438665"/>
            <a:ext cx="540599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37" name="Text 235"/>
          <p:cNvSpPr/>
          <p:nvPr/>
        </p:nvSpPr>
        <p:spPr>
          <a:xfrm>
            <a:off x="365760" y="2619557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Resource declared</a:t>
            </a:r>
            <a:endParaRPr lang="en-US" sz="900" dirty="0"/>
          </a:p>
        </p:txBody>
      </p:sp>
      <p:sp>
        <p:nvSpPr>
          <p:cNvPr id="238" name="Shape 236"/>
          <p:cNvSpPr/>
          <p:nvPr/>
        </p:nvSpPr>
        <p:spPr>
          <a:xfrm>
            <a:off x="6408177" y="2668855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239" name="Text 237"/>
          <p:cNvSpPr/>
          <p:nvPr/>
        </p:nvSpPr>
        <p:spPr>
          <a:xfrm>
            <a:off x="365760" y="2846169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Studies &amp; feasibility</a:t>
            </a:r>
            <a:endParaRPr lang="en-US" sz="900" dirty="0"/>
          </a:p>
        </p:txBody>
      </p:sp>
      <p:sp>
        <p:nvSpPr>
          <p:cNvPr id="240" name="Shape 238"/>
          <p:cNvSpPr/>
          <p:nvPr/>
        </p:nvSpPr>
        <p:spPr>
          <a:xfrm>
            <a:off x="6066474" y="2932043"/>
            <a:ext cx="211999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1" name="Text 239"/>
          <p:cNvSpPr/>
          <p:nvPr/>
        </p:nvSpPr>
        <p:spPr>
          <a:xfrm>
            <a:off x="365760" y="3072782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Scoping &amp; pre-feasibility</a:t>
            </a:r>
            <a:endParaRPr lang="en-US" sz="900" dirty="0"/>
          </a:p>
        </p:txBody>
      </p:sp>
      <p:sp>
        <p:nvSpPr>
          <p:cNvPr id="242" name="Shape 240"/>
          <p:cNvSpPr/>
          <p:nvPr/>
        </p:nvSpPr>
        <p:spPr>
          <a:xfrm>
            <a:off x="6066474" y="3118502"/>
            <a:ext cx="953998" cy="135172"/>
          </a:xfrm>
          <a:prstGeom prst="roundRect">
            <a:avLst>
              <a:gd name="adj" fmla="val 20294"/>
            </a:avLst>
          </a:prstGeom>
          <a:solidFill>
            <a:srgbClr val="2563EB"/>
          </a:solidFill>
          <a:ln/>
        </p:spPr>
      </p:sp>
      <p:sp>
        <p:nvSpPr>
          <p:cNvPr id="243" name="Shape 241"/>
          <p:cNvSpPr/>
          <p:nvPr/>
        </p:nvSpPr>
        <p:spPr>
          <a:xfrm>
            <a:off x="6066474" y="3118502"/>
            <a:ext cx="572399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44" name="Text 242"/>
          <p:cNvSpPr/>
          <p:nvPr/>
        </p:nvSpPr>
        <p:spPr>
          <a:xfrm>
            <a:off x="365760" y="3299394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Bankable feasibility study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7020472" y="3345114"/>
            <a:ext cx="1165997" cy="135172"/>
          </a:xfrm>
          <a:prstGeom prst="roundRect">
            <a:avLst>
              <a:gd name="adj" fmla="val 20294"/>
            </a:avLst>
          </a:prstGeom>
          <a:solidFill>
            <a:srgbClr val="3B82F6"/>
          </a:solidFill>
          <a:ln/>
        </p:spPr>
      </p:sp>
      <p:sp>
        <p:nvSpPr>
          <p:cNvPr id="246" name="Shape 244"/>
          <p:cNvSpPr/>
          <p:nvPr/>
        </p:nvSpPr>
        <p:spPr>
          <a:xfrm>
            <a:off x="7020472" y="3345114"/>
            <a:ext cx="116600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47" name="Text 245"/>
          <p:cNvSpPr/>
          <p:nvPr/>
        </p:nvSpPr>
        <p:spPr>
          <a:xfrm>
            <a:off x="365760" y="3526006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Investment decision</a:t>
            </a:r>
            <a:endParaRPr lang="en-US" sz="900" dirty="0"/>
          </a:p>
        </p:txBody>
      </p:sp>
      <p:sp>
        <p:nvSpPr>
          <p:cNvPr id="248" name="Shape 246"/>
          <p:cNvSpPr/>
          <p:nvPr/>
        </p:nvSpPr>
        <p:spPr>
          <a:xfrm>
            <a:off x="8157173" y="3575304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249" name="Text 247"/>
          <p:cNvSpPr/>
          <p:nvPr/>
        </p:nvSpPr>
        <p:spPr>
          <a:xfrm>
            <a:off x="365760" y="3752618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Permitting &amp; approvals</a:t>
            </a:r>
            <a:endParaRPr lang="en-US" sz="900" dirty="0"/>
          </a:p>
        </p:txBody>
      </p:sp>
      <p:sp>
        <p:nvSpPr>
          <p:cNvPr id="250" name="Shape 248"/>
          <p:cNvSpPr/>
          <p:nvPr/>
        </p:nvSpPr>
        <p:spPr>
          <a:xfrm>
            <a:off x="7020472" y="3838492"/>
            <a:ext cx="158999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51" name="Text 249"/>
          <p:cNvSpPr/>
          <p:nvPr/>
        </p:nvSpPr>
        <p:spPr>
          <a:xfrm>
            <a:off x="365760" y="3979230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Environmental &amp; social impact</a:t>
            </a:r>
            <a:endParaRPr lang="en-US" sz="900" dirty="0"/>
          </a:p>
        </p:txBody>
      </p:sp>
      <p:sp>
        <p:nvSpPr>
          <p:cNvPr id="252" name="Shape 250"/>
          <p:cNvSpPr/>
          <p:nvPr/>
        </p:nvSpPr>
        <p:spPr>
          <a:xfrm>
            <a:off x="7020472" y="4024950"/>
            <a:ext cx="1059997" cy="135172"/>
          </a:xfrm>
          <a:prstGeom prst="roundRect">
            <a:avLst>
              <a:gd name="adj" fmla="val 20294"/>
            </a:avLst>
          </a:prstGeom>
          <a:solidFill>
            <a:srgbClr val="A855F7"/>
          </a:solidFill>
          <a:ln/>
        </p:spPr>
      </p:sp>
      <p:sp>
        <p:nvSpPr>
          <p:cNvPr id="253" name="Shape 251"/>
          <p:cNvSpPr/>
          <p:nvPr/>
        </p:nvSpPr>
        <p:spPr>
          <a:xfrm>
            <a:off x="7020472" y="4024950"/>
            <a:ext cx="317999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54" name="Text 252"/>
          <p:cNvSpPr/>
          <p:nvPr/>
        </p:nvSpPr>
        <p:spPr>
          <a:xfrm>
            <a:off x="365760" y="4205842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Mining licence &amp; water permits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7815470" y="4251562"/>
            <a:ext cx="794998" cy="135172"/>
          </a:xfrm>
          <a:prstGeom prst="roundRect">
            <a:avLst>
              <a:gd name="adj" fmla="val 20294"/>
            </a:avLst>
          </a:prstGeom>
          <a:solidFill>
            <a:srgbClr val="C084FC"/>
          </a:solidFill>
          <a:ln/>
        </p:spPr>
      </p:sp>
      <p:sp>
        <p:nvSpPr>
          <p:cNvPr id="256" name="Text 254"/>
          <p:cNvSpPr/>
          <p:nvPr/>
        </p:nvSpPr>
        <p:spPr>
          <a:xfrm>
            <a:off x="365760" y="4432455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Development &amp; construction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8292469" y="4518329"/>
            <a:ext cx="222599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58" name="Text 256"/>
          <p:cNvSpPr/>
          <p:nvPr/>
        </p:nvSpPr>
        <p:spPr>
          <a:xfrm>
            <a:off x="365760" y="4659067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Site access, power &amp; water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8292469" y="4704787"/>
            <a:ext cx="635998" cy="135172"/>
          </a:xfrm>
          <a:prstGeom prst="roundRect">
            <a:avLst>
              <a:gd name="adj" fmla="val 20294"/>
            </a:avLst>
          </a:prstGeom>
          <a:solidFill>
            <a:srgbClr val="EA580C"/>
          </a:solidFill>
          <a:ln/>
        </p:spPr>
      </p:sp>
      <p:sp>
        <p:nvSpPr>
          <p:cNvPr id="260" name="Text 258"/>
          <p:cNvSpPr/>
          <p:nvPr/>
        </p:nvSpPr>
        <p:spPr>
          <a:xfrm>
            <a:off x="365760" y="4885679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Process plant construction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>
            <a:off x="8769468" y="4931399"/>
            <a:ext cx="1589996" cy="135172"/>
          </a:xfrm>
          <a:prstGeom prst="roundRect">
            <a:avLst>
              <a:gd name="adj" fmla="val 20294"/>
            </a:avLst>
          </a:prstGeom>
          <a:solidFill>
            <a:srgbClr val="F97316"/>
          </a:solidFill>
          <a:ln/>
        </p:spPr>
      </p:sp>
      <p:sp>
        <p:nvSpPr>
          <p:cNvPr id="262" name="Text 260"/>
          <p:cNvSpPr/>
          <p:nvPr/>
        </p:nvSpPr>
        <p:spPr>
          <a:xfrm>
            <a:off x="365760" y="5112291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Pre-strip / decline development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9087467" y="5158011"/>
            <a:ext cx="1271997" cy="135172"/>
          </a:xfrm>
          <a:prstGeom prst="roundRect">
            <a:avLst>
              <a:gd name="adj" fmla="val 20294"/>
            </a:avLst>
          </a:prstGeom>
          <a:solidFill>
            <a:srgbClr val="FB923C"/>
          </a:solidFill>
          <a:ln/>
        </p:spPr>
      </p:sp>
      <p:sp>
        <p:nvSpPr>
          <p:cNvPr id="264" name="Text 262"/>
          <p:cNvSpPr/>
          <p:nvPr/>
        </p:nvSpPr>
        <p:spPr>
          <a:xfrm>
            <a:off x="365760" y="5338903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Ramp-up &amp; operations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10412463" y="5424777"/>
            <a:ext cx="1377997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66" name="Text 264"/>
          <p:cNvSpPr/>
          <p:nvPr/>
        </p:nvSpPr>
        <p:spPr>
          <a:xfrm>
            <a:off x="365760" y="5565515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Commissioning &amp; first production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10412463" y="5611235"/>
            <a:ext cx="476999" cy="135172"/>
          </a:xfrm>
          <a:prstGeom prst="roundRect">
            <a:avLst>
              <a:gd name="adj" fmla="val 20294"/>
            </a:avLst>
          </a:prstGeom>
          <a:solidFill>
            <a:srgbClr val="0D9488"/>
          </a:solidFill>
          <a:ln/>
        </p:spPr>
      </p:sp>
      <p:sp>
        <p:nvSpPr>
          <p:cNvPr id="268" name="Text 266"/>
          <p:cNvSpPr/>
          <p:nvPr/>
        </p:nvSpPr>
        <p:spPr>
          <a:xfrm>
            <a:off x="365760" y="5792128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Ramp to nameplate capacity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10836462" y="5837848"/>
            <a:ext cx="953998" cy="135172"/>
          </a:xfrm>
          <a:prstGeom prst="roundRect">
            <a:avLst>
              <a:gd name="adj" fmla="val 20294"/>
            </a:avLst>
          </a:prstGeom>
          <a:solidFill>
            <a:srgbClr val="14B8A6"/>
          </a:solidFill>
          <a:ln/>
        </p:spPr>
      </p:sp>
      <p:sp>
        <p:nvSpPr>
          <p:cNvPr id="270" name="Text 268"/>
          <p:cNvSpPr/>
          <p:nvPr/>
        </p:nvSpPr>
        <p:spPr>
          <a:xfrm>
            <a:off x="365760" y="6018740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Commercial production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11708164" y="6068038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272" name="Text 27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Exploration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generation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geophysics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Geology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First-pass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drilling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Geology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Discovery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confirmed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Resource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definition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2027-12-14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Infill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drilling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Geology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2027-09-25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Assay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turnaround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modelling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Geology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2027-06-28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2027-12-14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170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Resource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declared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2027-12-15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2027-12-15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Studies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feasibility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2027-09-26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2028-10-29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Scoping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pre-feasibility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2027-09-26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Bankable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feasibility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2028-10-29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Investment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decision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2028-11-09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2028-11-09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Permitting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2029-01-17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Environmental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social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impact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Environment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2028-10-09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Mining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licence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water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permits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Legal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2028-08-21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2029-01-17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construction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2028-11-19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2030-01-12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access,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power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water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Projects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2028-11-19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2029-03-18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Process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construction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EPC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2029-02-17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2029-12-13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Pre-strip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decline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2029-04-18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2029-12-13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Ramp-up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2029-12-24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2030-09-09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Commissioning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2029-12-24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2030-03-23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Ramp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nameplate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capacity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2030-03-14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2030-09-09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Commercial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2030-09-10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2030-09-10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2026-07-18T08:31:45Z</dcterms:created>
  <dcterms:modified xsi:type="dcterms:W3CDTF">2026-07-18T08:31:45Z</dcterms:modified>
</cp:coreProperties>
</file>